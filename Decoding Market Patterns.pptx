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Lst>
  <p:notesMasterIdLst>
    <p:notesMasterId r:id="rId25"/>
  </p:notesMasterIdLst>
  <p:handoutMasterIdLst>
    <p:handoutMasterId r:id="rId26"/>
  </p:handoutMasterIdLst>
  <p:sldIdLst>
    <p:sldId id="310" r:id="rId5"/>
    <p:sldId id="317" r:id="rId6"/>
    <p:sldId id="316" r:id="rId7"/>
    <p:sldId id="326" r:id="rId8"/>
    <p:sldId id="325" r:id="rId9"/>
    <p:sldId id="331" r:id="rId10"/>
    <p:sldId id="319" r:id="rId11"/>
    <p:sldId id="330" r:id="rId12"/>
    <p:sldId id="327" r:id="rId13"/>
    <p:sldId id="332" r:id="rId14"/>
    <p:sldId id="312" r:id="rId15"/>
    <p:sldId id="328" r:id="rId16"/>
    <p:sldId id="329" r:id="rId17"/>
    <p:sldId id="333" r:id="rId18"/>
    <p:sldId id="334" r:id="rId19"/>
    <p:sldId id="321" r:id="rId20"/>
    <p:sldId id="335" r:id="rId21"/>
    <p:sldId id="322" r:id="rId22"/>
    <p:sldId id="324" r:id="rId23"/>
    <p:sldId id="33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F3D1"/>
    <a:srgbClr val="4A5EE6"/>
    <a:srgbClr val="132BDC"/>
    <a:srgbClr val="DCE0FC"/>
    <a:srgbClr val="FDF200"/>
    <a:srgbClr val="80FBE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58"/>
  </p:normalViewPr>
  <p:slideViewPr>
    <p:cSldViewPr snapToGrid="0">
      <p:cViewPr>
        <p:scale>
          <a:sx n="75" d="100"/>
          <a:sy n="75" d="100"/>
        </p:scale>
        <p:origin x="965" y="120"/>
      </p:cViewPr>
      <p:guideLst/>
    </p:cSldViewPr>
  </p:slideViewPr>
  <p:notesTextViewPr>
    <p:cViewPr>
      <p:scale>
        <a:sx n="1" d="1"/>
        <a:sy n="1" d="1"/>
      </p:scale>
      <p:origin x="0" y="0"/>
    </p:cViewPr>
  </p:notesTextViewPr>
  <p:notesViewPr>
    <p:cSldViewPr snapToGrid="0">
      <p:cViewPr varScale="1">
        <p:scale>
          <a:sx n="95" d="100"/>
          <a:sy n="95" d="100"/>
        </p:scale>
        <p:origin x="3720"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5/5/2026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5/5/2026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1</a:t>
            </a:fld>
            <a:endParaRPr lang="en-US" dirty="0"/>
          </a:p>
        </p:txBody>
      </p:sp>
    </p:spTree>
    <p:extLst>
      <p:ext uri="{BB962C8B-B14F-4D97-AF65-F5344CB8AC3E}">
        <p14:creationId xmlns:p14="http://schemas.microsoft.com/office/powerpoint/2010/main" val="1383535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40080" y="4671229"/>
            <a:ext cx="6655522" cy="1545336"/>
          </a:xfrm>
        </p:spPr>
        <p:txBody>
          <a:bodyPr anchor="b">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40080" y="640080"/>
            <a:ext cx="7478991" cy="3635797"/>
          </a:xfrm>
        </p:spPr>
        <p:txBody>
          <a:bodyPr anchor="t">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36586169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0440" y="4842220"/>
            <a:ext cx="7375466" cy="1014984"/>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0440" y="854239"/>
            <a:ext cx="7876287" cy="3592629"/>
          </a:xfrm>
        </p:spPr>
        <p:txBody>
          <a:bodyPr anchor="b">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23585965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4334808"/>
            <a:ext cx="8229599" cy="1414091"/>
          </a:xfrm>
        </p:spPr>
        <p:txBody>
          <a:bodyPr>
            <a:normAutofit/>
          </a:bodyPr>
          <a:lstStyle>
            <a:lvl1pPr marL="0" indent="0" algn="ctr">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4400"/>
            </a:lvl1pPr>
          </a:lstStyle>
          <a:p>
            <a:r>
              <a:rPr lang="en-US"/>
              <a:t>Click to edit Master title style</a:t>
            </a:r>
            <a:endParaRPr lang="en-US" dirty="0"/>
          </a:p>
        </p:txBody>
      </p:sp>
    </p:spTree>
    <p:extLst>
      <p:ext uri="{BB962C8B-B14F-4D97-AF65-F5344CB8AC3E}">
        <p14:creationId xmlns:p14="http://schemas.microsoft.com/office/powerpoint/2010/main" val="14786349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 y="1"/>
            <a:ext cx="11807950" cy="4769446"/>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5/5/2026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7" y="6023021"/>
            <a:ext cx="10690154" cy="480373"/>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7" y="4944365"/>
            <a:ext cx="10690154" cy="914482"/>
          </a:xfrm>
        </p:spPr>
        <p:txBody>
          <a:bodyPr anchor="b">
            <a:normAutofit/>
          </a:bodyPr>
          <a:lstStyle>
            <a:lvl1pPr algn="l">
              <a:defRPr sz="3200"/>
            </a:lvl1pPr>
          </a:lstStyle>
          <a:p>
            <a:r>
              <a:rPr lang="en-US"/>
              <a:t>Click to edit Master title style</a:t>
            </a:r>
            <a:endParaRPr lang="en-US" dirty="0"/>
          </a:p>
        </p:txBody>
      </p:sp>
    </p:spTree>
    <p:extLst>
      <p:ext uri="{BB962C8B-B14F-4D97-AF65-F5344CB8AC3E}">
        <p14:creationId xmlns:p14="http://schemas.microsoft.com/office/powerpoint/2010/main" val="30177760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16200000">
            <a:off x="11582532" y="244342"/>
            <a:ext cx="853812" cy="365125"/>
          </a:xfrm>
        </p:spPr>
        <p:txBody>
          <a:bodyPr/>
          <a:lstStyle>
            <a:lvl1pPr>
              <a:defRPr>
                <a:solidFill>
                  <a:schemeClr val="tx1"/>
                </a:solidFill>
                <a:effectLst/>
              </a:defRPr>
            </a:lvl1pPr>
          </a:lstStyle>
          <a:p>
            <a:fld id="{886426EA-0386-4881-8D6D-3F08C95C4A7F}" type="datetime1">
              <a:rPr lang="en-US" smtClean="0"/>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4731335"/>
            <a:ext cx="4055107" cy="1184585"/>
          </a:xfrm>
        </p:spPr>
        <p:txBody>
          <a:bodyPr anchor="t">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055108" cy="3475236"/>
          </a:xfrm>
        </p:spPr>
        <p:txBody>
          <a:bodyPr anchor="b">
            <a:normAutofit/>
          </a:bodyPr>
          <a:lstStyle>
            <a:lvl1pPr algn="l">
              <a:defRPr sz="4000"/>
            </a:lvl1pPr>
          </a:lstStyle>
          <a:p>
            <a:r>
              <a:rPr lang="en-US"/>
              <a:t>Click to edit Master title style</a:t>
            </a:r>
            <a:endParaRPr lang="en-US" dirty="0"/>
          </a:p>
        </p:txBody>
      </p:sp>
    </p:spTree>
    <p:extLst>
      <p:ext uri="{BB962C8B-B14F-4D97-AF65-F5344CB8AC3E}">
        <p14:creationId xmlns:p14="http://schemas.microsoft.com/office/powerpoint/2010/main" val="18313828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188802" y="0"/>
            <a:ext cx="6619138"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12" name="Date Placeholder 6">
            <a:extLst>
              <a:ext uri="{FF2B5EF4-FFF2-40B4-BE49-F238E27FC236}">
                <a16:creationId xmlns:a16="http://schemas.microsoft.com/office/drawing/2014/main" id="{1E3A5278-B5E1-FBBE-AF4B-151288A16699}"/>
              </a:ext>
            </a:extLst>
          </p:cNvPr>
          <p:cNvSpPr>
            <a:spLocks noGrp="1"/>
          </p:cNvSpPr>
          <p:nvPr>
            <p:ph type="dt" sz="half" idx="14"/>
          </p:nvPr>
        </p:nvSpPr>
        <p:spPr>
          <a:xfrm rot="16200000">
            <a:off x="11579347" y="228600"/>
            <a:ext cx="841248" cy="384048"/>
          </a:xfrm>
        </p:spPr>
        <p:txBody>
          <a:bodyPr/>
          <a:lstStyle/>
          <a:p>
            <a:fld id="{1FE1A989-42EF-40B2-87AB-6941C231CD4A}" type="datetime1">
              <a:rPr lang="en-US" smtClean="0"/>
              <a:t>5/5/2026</a:t>
            </a:fld>
            <a:endParaRPr lang="en-US" dirty="0"/>
          </a:p>
        </p:txBody>
      </p:sp>
      <p:sp>
        <p:nvSpPr>
          <p:cNvPr id="13" name="Footer Placeholder 7">
            <a:extLst>
              <a:ext uri="{FF2B5EF4-FFF2-40B4-BE49-F238E27FC236}">
                <a16:creationId xmlns:a16="http://schemas.microsoft.com/office/drawing/2014/main" id="{78D40854-7295-C18A-ECA9-35F0B7731B26}"/>
              </a:ext>
            </a:extLst>
          </p:cNvPr>
          <p:cNvSpPr>
            <a:spLocks noGrp="1"/>
          </p:cNvSpPr>
          <p:nvPr>
            <p:ph type="ftr" sz="quarter" idx="15"/>
          </p:nvPr>
        </p:nvSpPr>
        <p:spPr>
          <a:xfrm rot="16200000">
            <a:off x="9332362" y="3316833"/>
            <a:ext cx="5335225" cy="384055"/>
          </a:xfrm>
        </p:spPr>
        <p:txBody>
          <a:bodyPr/>
          <a:lstStyle/>
          <a:p>
            <a:r>
              <a:rPr lang="en-US"/>
              <a:t>Sample Footer Text</a:t>
            </a:r>
            <a:endParaRPr lang="en-US" dirty="0"/>
          </a:p>
        </p:txBody>
      </p:sp>
      <p:sp>
        <p:nvSpPr>
          <p:cNvPr id="14" name="Slide Number Placeholder 8">
            <a:extLst>
              <a:ext uri="{FF2B5EF4-FFF2-40B4-BE49-F238E27FC236}">
                <a16:creationId xmlns:a16="http://schemas.microsoft.com/office/drawing/2014/main" id="{EA127F09-58C9-5029-F86D-539EE848D4E6}"/>
              </a:ext>
            </a:extLst>
          </p:cNvPr>
          <p:cNvSpPr>
            <a:spLocks noGrp="1"/>
          </p:cNvSpPr>
          <p:nvPr>
            <p:ph type="sldNum" sz="quarter" idx="16"/>
          </p:nvPr>
        </p:nvSpPr>
        <p:spPr>
          <a:xfrm rot="16200000">
            <a:off x="11659214" y="6325209"/>
            <a:ext cx="681526" cy="384055"/>
          </a:xfrm>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8" y="4795730"/>
            <a:ext cx="4056192" cy="1380744"/>
          </a:xfrm>
        </p:spPr>
        <p:txBody>
          <a:bodyPr anchor="b">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48648" y="640079"/>
            <a:ext cx="4056192" cy="3737921"/>
          </a:xfrm>
        </p:spPr>
        <p:txBody>
          <a:bodyPr anchor="t">
            <a:normAutofit/>
          </a:bodyPr>
          <a:lstStyle>
            <a:lvl1pPr algn="l">
              <a:defRPr sz="4400"/>
            </a:lvl1pPr>
          </a:lstStyle>
          <a:p>
            <a:r>
              <a:rPr lang="en-US"/>
              <a:t>Click to edit Master title style</a:t>
            </a:r>
            <a:endParaRPr lang="en-US" dirty="0"/>
          </a:p>
        </p:txBody>
      </p:sp>
    </p:spTree>
    <p:extLst>
      <p:ext uri="{BB962C8B-B14F-4D97-AF65-F5344CB8AC3E}">
        <p14:creationId xmlns:p14="http://schemas.microsoft.com/office/powerpoint/2010/main" val="21719151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hoto 4">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AA26D96A-42E4-8591-AB40-44F5803CFF68}"/>
              </a:ext>
            </a:extLst>
          </p:cNvPr>
          <p:cNvSpPr>
            <a:spLocks noGrp="1"/>
          </p:cNvSpPr>
          <p:nvPr>
            <p:ph type="pic" idx="10"/>
          </p:nvPr>
        </p:nvSpPr>
        <p:spPr>
          <a:xfrm>
            <a:off x="6096000" y="0"/>
            <a:ext cx="609600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548648" y="5557298"/>
            <a:ext cx="5091864" cy="883258"/>
          </a:xfrm>
        </p:spPr>
        <p:txBody>
          <a:bodyPr lIns="91440" tIns="91440" rIns="0" bIns="0" anchor="t">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548648" y="417444"/>
            <a:ext cx="5091864" cy="4890965"/>
          </a:xfrm>
        </p:spPr>
        <p:txBody>
          <a:bodyPr lIns="91440" tIns="91440" rIns="0" bIns="0" anchor="b">
            <a:noAutofit/>
          </a:bodyPr>
          <a:lstStyle>
            <a:lvl1pPr algn="l">
              <a:defRPr sz="3600" cap="all" baseline="0"/>
            </a:lvl1pPr>
          </a:lstStyle>
          <a:p>
            <a:r>
              <a:rPr lang="en-US" dirty="0"/>
              <a:t>CLICK TO EDIT MASTER TITLE STYLE</a:t>
            </a:r>
          </a:p>
        </p:txBody>
      </p:sp>
    </p:spTree>
    <p:extLst>
      <p:ext uri="{BB962C8B-B14F-4D97-AF65-F5344CB8AC3E}">
        <p14:creationId xmlns:p14="http://schemas.microsoft.com/office/powerpoint/2010/main" val="3502373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Section Header">
    <p:bg>
      <p:bgPr>
        <a:solidFill>
          <a:schemeClr val="bg1">
            <a:alpha val="99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7DE541-D546-A518-2627-DF4D33C643AA}"/>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EE2A7A0-B9EE-41A8-8016-28E5803F20B2}" type="datetime1">
              <a:rPr lang="en-US" smtClean="0"/>
              <a:pPr/>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40080" y="640077"/>
            <a:ext cx="7763256" cy="594637"/>
          </a:xfrm>
        </p:spPr>
        <p:txBody>
          <a:bodyPr anchor="t">
            <a:normAutofit/>
          </a:bodyPr>
          <a:lstStyle>
            <a:lvl1pPr marL="0" indent="0" algn="l">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40080" y="1630067"/>
            <a:ext cx="7772400" cy="4572000"/>
          </a:xfrm>
        </p:spPr>
        <p:txBody>
          <a:bodyPr anchor="b">
            <a:normAutofit/>
          </a:bodyPr>
          <a:lstStyle>
            <a:lvl1pPr algn="l">
              <a:defRPr sz="4000"/>
            </a:lvl1pPr>
          </a:lstStyle>
          <a:p>
            <a:r>
              <a:rPr lang="en-US"/>
              <a:t>Click to edit Master title style</a:t>
            </a:r>
            <a:endParaRPr lang="en-US" dirty="0"/>
          </a:p>
        </p:txBody>
      </p:sp>
    </p:spTree>
    <p:extLst>
      <p:ext uri="{BB962C8B-B14F-4D97-AF65-F5344CB8AC3E}">
        <p14:creationId xmlns:p14="http://schemas.microsoft.com/office/powerpoint/2010/main" val="40968359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5/5/2026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0080" y="2662000"/>
            <a:ext cx="8467558" cy="3554565"/>
          </a:xfrm>
        </p:spPr>
        <p:txBody>
          <a:bodyPr>
            <a:normAutofit/>
          </a:bodyPr>
          <a:lstStyle>
            <a:lvl1pPr>
              <a:lnSpc>
                <a:spcPct val="100000"/>
              </a:lnSpc>
              <a:defRPr sz="2400"/>
            </a:lvl1pPr>
            <a:lvl2pPr>
              <a:lnSpc>
                <a:spcPct val="100000"/>
              </a:lnSpc>
              <a:defRPr sz="2000"/>
            </a:lvl2pPr>
            <a:lvl3pPr>
              <a:lnSpc>
                <a:spcPct val="100000"/>
              </a:lnSpc>
              <a:defRPr sz="1800"/>
            </a:lvl3pPr>
            <a:lvl4pPr>
              <a:lnSpc>
                <a:spcPct val="100000"/>
              </a:lnSpc>
              <a:defRPr sz="16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40080" y="664108"/>
            <a:ext cx="8467558" cy="1554480"/>
          </a:xfrm>
        </p:spPr>
        <p:txBody>
          <a:bodyPr anchor="b">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1899420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5/5/2026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82880" y="940312"/>
            <a:ext cx="11442188" cy="567696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315874"/>
            <a:ext cx="11442188" cy="528186"/>
          </a:xfrm>
        </p:spPr>
        <p:txBody>
          <a:bodyPr anchor="ctr">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81318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5/5/2026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82880" y="367091"/>
            <a:ext cx="11422799" cy="612381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1492135"/>
            <a:ext cx="10515600" cy="1325880"/>
          </a:xfrm>
        </p:spPr>
        <p:txBody>
          <a:bodyPr anchor="ct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980223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5/5/2026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76" y="2220977"/>
            <a:ext cx="10688608"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640080"/>
            <a:ext cx="10690155" cy="1185545"/>
          </a:xfrm>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967807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5/5/2026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3992" y="2386584"/>
            <a:ext cx="4804811" cy="2459736"/>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914400" indent="0">
              <a:lnSpc>
                <a:spcPct val="10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2385975"/>
            <a:ext cx="4804812" cy="2454796"/>
          </a:xfrm>
        </p:spPr>
        <p:txBody>
          <a:bodyPr>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968027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5/5/2026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650991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5/5/2026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Content Placeholder 7">
            <a:extLst>
              <a:ext uri="{FF2B5EF4-FFF2-40B4-BE49-F238E27FC236}">
                <a16:creationId xmlns:a16="http://schemas.microsoft.com/office/drawing/2014/main" id="{DD74ED7B-D05F-9923-6EB3-4AA483A680F4}"/>
              </a:ext>
            </a:extLst>
          </p:cNvPr>
          <p:cNvSpPr>
            <a:spLocks noGrp="1"/>
          </p:cNvSpPr>
          <p:nvPr>
            <p:ph sz="quarter" idx="13"/>
          </p:nvPr>
        </p:nvSpPr>
        <p:spPr>
          <a:xfrm>
            <a:off x="5414320" y="1538288"/>
            <a:ext cx="5824481" cy="475234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1537853"/>
            <a:ext cx="4317026" cy="4752779"/>
          </a:xfrm>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877302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5/5/2026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38655" y="640080"/>
            <a:ext cx="5779644" cy="55764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69151" y="640080"/>
            <a:ext cx="4296522" cy="5576485"/>
          </a:xfrm>
        </p:spPr>
        <p:txBody>
          <a:bodyPr>
            <a:normAutofit/>
          </a:bodyPr>
          <a:lstStyle>
            <a:lvl1pPr>
              <a:defRPr sz="3600"/>
            </a:lvl1pPr>
          </a:lstStyle>
          <a:p>
            <a:r>
              <a:rPr lang="en-US"/>
              <a:t>Click to edit Master title style</a:t>
            </a:r>
            <a:endParaRPr lang="en-US" dirty="0"/>
          </a:p>
        </p:txBody>
      </p:sp>
    </p:spTree>
    <p:extLst>
      <p:ext uri="{BB962C8B-B14F-4D97-AF65-F5344CB8AC3E}">
        <p14:creationId xmlns:p14="http://schemas.microsoft.com/office/powerpoint/2010/main" val="1030924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5/5/2026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35995" y="640080"/>
            <a:ext cx="6802805" cy="55764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640080"/>
            <a:ext cx="3338701" cy="5576486"/>
          </a:xfrm>
        </p:spPr>
        <p:txBody>
          <a:bodyPr>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2550740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rot="16200000">
            <a:off x="11577950" y="230002"/>
            <a:ext cx="844059" cy="384049"/>
          </a:xfrm>
        </p:spPr>
        <p:txBody>
          <a:bodyPr/>
          <a:lstStyle/>
          <a:p>
            <a:fld id="{8FACD271-2BB0-4C13-9E3A-50B90F57CA5B}" type="datetime1">
              <a:rPr lang="en-US" smtClean="0"/>
              <a:t>5/5/2026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2532" y="2220977"/>
            <a:ext cx="5896267"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2532" y="640080"/>
            <a:ext cx="5896266" cy="1185544"/>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9138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40728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5/5/2026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rot="16200000">
            <a:off x="9313727" y="3338289"/>
            <a:ext cx="5372504" cy="384048"/>
          </a:xfrm>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rot="16200000">
            <a:off x="11679261" y="6345259"/>
            <a:ext cx="641434" cy="384046"/>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7" y="2220977"/>
            <a:ext cx="6282871" cy="399558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521" y="640080"/>
            <a:ext cx="6282871" cy="1185544"/>
          </a:xfrm>
        </p:spPr>
        <p:txBody>
          <a:bodyPr anchor="b"/>
          <a:lstStyle>
            <a:lvl1pPr>
              <a:defRPr sz="3200"/>
            </a:lvl1pPr>
          </a:lstStyle>
          <a:p>
            <a:r>
              <a:rPr lang="en-US"/>
              <a:t>Click to edit Master title style</a:t>
            </a:r>
          </a:p>
        </p:txBody>
      </p:sp>
    </p:spTree>
    <p:extLst>
      <p:ext uri="{BB962C8B-B14F-4D97-AF65-F5344CB8AC3E}">
        <p14:creationId xmlns:p14="http://schemas.microsoft.com/office/powerpoint/2010/main" val="34747407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379614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11577948" y="230003"/>
            <a:ext cx="844058" cy="384051"/>
          </a:xfrm>
        </p:spPr>
        <p:txBody>
          <a:bodyPr/>
          <a:lstStyle/>
          <a:p>
            <a:fld id="{1A5F77D0-C28E-4573-88F0-0A30FF98888E}" type="datetime1">
              <a:rPr lang="en-US" smtClean="0"/>
              <a:t>5/5/2026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344788" y="2220977"/>
            <a:ext cx="6894013" cy="399558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44788" y="640080"/>
            <a:ext cx="6894013" cy="118554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2824441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707688" y="0"/>
            <a:ext cx="4100261"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5/5/2026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16200000">
            <a:off x="9313724" y="3338288"/>
            <a:ext cx="5372504" cy="384048"/>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rot="16200000">
            <a:off x="11679263" y="6345259"/>
            <a:ext cx="641434" cy="38404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7" y="2220977"/>
            <a:ext cx="6569391" cy="3995588"/>
          </a:xfrm>
        </p:spPr>
        <p:txBody>
          <a:bodyPr/>
          <a:lstStyle>
            <a:lvl1pPr>
              <a:lnSpc>
                <a:spcPct val="100000"/>
              </a:lnSpc>
              <a:defRPr sz="18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80"/>
            <a:ext cx="6569391" cy="1185544"/>
          </a:xfrm>
        </p:spPr>
        <p:txBody>
          <a:bodyPr anchor="b"/>
          <a:lstStyle/>
          <a:p>
            <a:r>
              <a:rPr lang="en-US"/>
              <a:t>Click to edit Master title style</a:t>
            </a:r>
          </a:p>
        </p:txBody>
      </p:sp>
    </p:spTree>
    <p:extLst>
      <p:ext uri="{BB962C8B-B14F-4D97-AF65-F5344CB8AC3E}">
        <p14:creationId xmlns:p14="http://schemas.microsoft.com/office/powerpoint/2010/main" val="40117496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7947" y="230005"/>
            <a:ext cx="844059" cy="384049"/>
          </a:xfrm>
        </p:spPr>
        <p:txBody>
          <a:bodyPr/>
          <a:lstStyle>
            <a:lvl1pPr>
              <a:defRPr>
                <a:solidFill>
                  <a:schemeClr val="tx1"/>
                </a:solidFill>
                <a:effectLst/>
              </a:defRPr>
            </a:lvl1pPr>
          </a:lstStyle>
          <a:p>
            <a:fld id="{EE468DAA-49F6-4492-82E6-75555EB31418}"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80661" y="2506738"/>
            <a:ext cx="4058141" cy="370847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0661" y="640080"/>
            <a:ext cx="4058142" cy="1469952"/>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8536604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342313" y="0"/>
            <a:ext cx="6445856"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69792" y="219040"/>
            <a:ext cx="841248" cy="403167"/>
          </a:xfrm>
        </p:spPr>
        <p:txBody>
          <a:bodyPr/>
          <a:lstStyle/>
          <a:p>
            <a:fld id="{41D22668-A3AE-429F-A351-A1583BA90793}"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02759" y="3327321"/>
            <a:ext cx="5375314" cy="403168"/>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69700" y="6335696"/>
            <a:ext cx="641433" cy="403167"/>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8" y="2506737"/>
            <a:ext cx="4243632" cy="370982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507" y="640079"/>
            <a:ext cx="4244436" cy="1470381"/>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9137735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7947" y="230005"/>
            <a:ext cx="844060" cy="384048"/>
          </a:xfrm>
        </p:spPr>
        <p:txBody>
          <a:bodyPr/>
          <a:lstStyle>
            <a:lvl1pPr>
              <a:defRPr>
                <a:solidFill>
                  <a:schemeClr val="tx1"/>
                </a:solidFill>
                <a:effectLst/>
              </a:defRPr>
            </a:lvl1pPr>
          </a:lstStyle>
          <a:p>
            <a:fld id="{CB3A2E2B-8F4D-437C-9F55-5E913AFC716A}"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40888" y="1745672"/>
            <a:ext cx="4218419" cy="447089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40889" y="640080"/>
            <a:ext cx="4217598" cy="932688"/>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3116772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24251" y="0"/>
            <a:ext cx="6274280"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74644" y="223888"/>
            <a:ext cx="841248" cy="393471"/>
          </a:xfrm>
        </p:spPr>
        <p:txBody>
          <a:bodyPr/>
          <a:lstStyle/>
          <a:p>
            <a:fld id="{46C70014-48FC-4647-9615-BBD39F98887D}"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07611" y="3332170"/>
            <a:ext cx="5375316" cy="393471"/>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75228" y="6339869"/>
            <a:ext cx="640080" cy="393471"/>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7" y="1602889"/>
            <a:ext cx="4426953" cy="46136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320040"/>
            <a:ext cx="4426953" cy="1153758"/>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6923882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16200000">
            <a:off x="11579353" y="228599"/>
            <a:ext cx="841248" cy="384051"/>
          </a:xfrm>
        </p:spPr>
        <p:txBody>
          <a:bodyPr/>
          <a:lstStyle/>
          <a:p>
            <a:fld id="{C089F4EF-3CDF-46D7-ADF4-3A52C84FD8BE}" type="datetime1">
              <a:rPr lang="en-US" smtClean="0"/>
              <a:t>5/5/2026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16200000">
            <a:off x="9312317" y="3336881"/>
            <a:ext cx="5375316" cy="384051"/>
          </a:xfrm>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32918" y="2285999"/>
            <a:ext cx="3126383" cy="393056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2791" y="640079"/>
            <a:ext cx="3126511" cy="1470381"/>
          </a:xfrm>
        </p:spPr>
        <p:txBody>
          <a:bodyPr anchor="b">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4211003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382601" y="0"/>
            <a:ext cx="7430217"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81787" y="227618"/>
            <a:ext cx="841248" cy="379182"/>
          </a:xfrm>
        </p:spPr>
        <p:txBody>
          <a:bodyPr/>
          <a:lstStyle/>
          <a:p>
            <a:fld id="{E635C43F-DBB1-4D83-B442-E1529AA900C2}"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32304" y="3318349"/>
            <a:ext cx="5340213" cy="379182"/>
          </a:xfrm>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62434" y="6328433"/>
            <a:ext cx="679953" cy="379181"/>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8" y="2346897"/>
            <a:ext cx="3285306" cy="383115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9"/>
            <a:ext cx="3285306" cy="1470381"/>
          </a:xfrm>
        </p:spPr>
        <p:txBody>
          <a:bodyPr anchor="b">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923892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88816" y="228597"/>
            <a:ext cx="841248" cy="384052"/>
          </a:xfrm>
        </p:spPr>
        <p:txBody>
          <a:bodyPr/>
          <a:lstStyle>
            <a:lvl1pPr>
              <a:defRPr>
                <a:solidFill>
                  <a:schemeClr val="tx1"/>
                </a:solidFill>
                <a:effectLst/>
              </a:defRPr>
            </a:lvl1pPr>
          </a:lstStyle>
          <a:p>
            <a:fld id="{2D13F81E-C5BD-4314-B9B9-AAE2702F29D2}"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18449" y="3340209"/>
            <a:ext cx="5372517" cy="374587"/>
          </a:xfrm>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2894707" cy="2953512"/>
          </a:xfrm>
        </p:spPr>
        <p:txBody>
          <a:bodyPr>
            <a:normAutofit/>
          </a:bodyPr>
          <a:lstStyle>
            <a:lvl1pPr marL="0" indent="0">
              <a:lnSpc>
                <a:spcPct val="100000"/>
              </a:lnSpc>
              <a:buNone/>
              <a:defRPr sz="2400"/>
            </a:lvl1pPr>
            <a:lvl2pPr marL="228600" indent="0">
              <a:lnSpc>
                <a:spcPct val="100000"/>
              </a:lnSpc>
              <a:buNone/>
              <a:defRPr sz="2000"/>
            </a:lvl2pPr>
            <a:lvl3pPr marL="457200" indent="0">
              <a:lnSpc>
                <a:spcPct val="100000"/>
              </a:lnSpc>
              <a:buNone/>
              <a:defRPr sz="1800"/>
            </a:lvl3pPr>
            <a:lvl4pPr marL="685800" indent="0">
              <a:lnSpc>
                <a:spcPct val="100000"/>
              </a:lnSpc>
              <a:buNone/>
              <a:defRPr sz="1600"/>
            </a:lvl4pPr>
            <a:lvl5pPr marL="914400" indent="0">
              <a:lnSpc>
                <a:spcPct val="100000"/>
              </a:lnSpc>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2894707" cy="1942773"/>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31722170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1807952" cy="463513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414320" y="5070445"/>
            <a:ext cx="5803979" cy="1332152"/>
          </a:xfrm>
        </p:spPr>
        <p:txBody>
          <a:bodyPr>
            <a:noAutofit/>
          </a:bodyPr>
          <a:lstStyle>
            <a:lvl1pPr marL="0" indent="0">
              <a:lnSpc>
                <a:spcPct val="100000"/>
              </a:lnSpc>
              <a:buFont typeface="Arial" panose="020B0604020202020204" pitchFamily="34" charset="0"/>
              <a:buNone/>
              <a:defRPr sz="1600"/>
            </a:lvl1pPr>
            <a:lvl2pPr marL="228600" indent="0">
              <a:lnSpc>
                <a:spcPct val="100000"/>
              </a:lnSpc>
              <a:buFont typeface="Arial" panose="020B0604020202020204" pitchFamily="34" charset="0"/>
              <a:buNone/>
              <a:defRPr sz="1400"/>
            </a:lvl2pPr>
            <a:lvl3pPr marL="457200" indent="0">
              <a:lnSpc>
                <a:spcPct val="100000"/>
              </a:lnSpc>
              <a:buFont typeface="Arial" panose="020B0604020202020204" pitchFamily="34" charset="0"/>
              <a:buNone/>
              <a:defRPr sz="1200"/>
            </a:lvl3pPr>
            <a:lvl4pPr marL="685800" indent="0">
              <a:lnSpc>
                <a:spcPct val="100000"/>
              </a:lnSpc>
              <a:buFont typeface="Arial" panose="020B0604020202020204" pitchFamily="34" charset="0"/>
              <a:buNone/>
              <a:defRPr sz="1100"/>
            </a:lvl4pPr>
            <a:lvl5pPr marL="914400" indent="0">
              <a:lnSpc>
                <a:spcPct val="100000"/>
              </a:lnSpc>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5070446"/>
            <a:ext cx="4317026" cy="1332152"/>
          </a:xfrm>
        </p:spPr>
        <p:txBody>
          <a:bodyPr anchor="t">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24996610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1807952" cy="377827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21144" y="4197652"/>
            <a:ext cx="7317660" cy="2204945"/>
          </a:xfrm>
        </p:spPr>
        <p:txBody>
          <a:bodyPr>
            <a:noAutofit/>
          </a:bodyPr>
          <a:lstStyle>
            <a:lvl1pPr marL="285750" indent="-285750">
              <a:lnSpc>
                <a:spcPct val="100000"/>
              </a:lnSpc>
              <a:buFont typeface="Arial" panose="020B0604020202020204" pitchFamily="34" charset="0"/>
              <a:buChar char="•"/>
              <a:defRPr sz="1800"/>
            </a:lvl1pPr>
            <a:lvl2pPr marL="514350" indent="-285750">
              <a:lnSpc>
                <a:spcPct val="100000"/>
              </a:lnSpc>
              <a:buFont typeface="Arial" panose="020B0604020202020204" pitchFamily="34" charset="0"/>
              <a:buChar char="•"/>
              <a:defRPr sz="1600"/>
            </a:lvl2pPr>
            <a:lvl3pPr marL="742950" indent="-285750">
              <a:lnSpc>
                <a:spcPct val="100000"/>
              </a:lnSpc>
              <a:buFont typeface="Arial" panose="020B0604020202020204" pitchFamily="34" charset="0"/>
              <a:buChar char="•"/>
              <a:defRPr sz="1400"/>
            </a:lvl3pPr>
            <a:lvl4pPr marL="857250" indent="-171450">
              <a:lnSpc>
                <a:spcPct val="100000"/>
              </a:lnSpc>
              <a:buFont typeface="Arial" panose="020B0604020202020204" pitchFamily="34" charset="0"/>
              <a:buChar char="•"/>
              <a:defRPr sz="1200"/>
            </a:lvl4pPr>
            <a:lvl5pPr marL="1085850" indent="-171450">
              <a:lnSpc>
                <a:spcPct val="100000"/>
              </a:lnSpc>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4194674"/>
            <a:ext cx="2823849" cy="2204944"/>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434622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3079730"/>
            <a:ext cx="11807947" cy="3778270"/>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16200000">
            <a:off x="11556490" y="251460"/>
            <a:ext cx="886968" cy="384048"/>
          </a:xfrm>
        </p:spPr>
        <p:txBody>
          <a:bodyPr/>
          <a:lstStyle/>
          <a:p>
            <a:fld id="{9128053F-E531-4885-B604-CF1A6DEEE405}"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16200000">
            <a:off x="9332422" y="3362497"/>
            <a:ext cx="5335109" cy="384049"/>
          </a:xfrm>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rot="16200000">
            <a:off x="11679934" y="6350094"/>
            <a:ext cx="640080" cy="384048"/>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39328" y="640077"/>
            <a:ext cx="7099472" cy="2016112"/>
          </a:xfrm>
        </p:spPr>
        <p:txBody>
          <a:bodyPr>
            <a:noAutofit/>
          </a:bodyPr>
          <a:lstStyle>
            <a:lvl1pPr marL="285750" indent="-285750">
              <a:lnSpc>
                <a:spcPct val="100000"/>
              </a:lnSpc>
              <a:buFont typeface="Arial" panose="020B0604020202020204" pitchFamily="34" charset="0"/>
              <a:buChar char="•"/>
              <a:defRPr sz="1800"/>
            </a:lvl1pPr>
            <a:lvl2pPr marL="514350" indent="-285750">
              <a:lnSpc>
                <a:spcPct val="100000"/>
              </a:lnSpc>
              <a:buFont typeface="Arial" panose="020B0604020202020204" pitchFamily="34" charset="0"/>
              <a:buChar char="•"/>
              <a:defRPr sz="1600"/>
            </a:lvl2pPr>
            <a:lvl3pPr marL="742950" indent="-285750">
              <a:lnSpc>
                <a:spcPct val="100000"/>
              </a:lnSpc>
              <a:buFont typeface="Arial" panose="020B0604020202020204" pitchFamily="34" charset="0"/>
              <a:buChar char="•"/>
              <a:defRPr sz="1400"/>
            </a:lvl3pPr>
            <a:lvl4pPr marL="857250" indent="-171450">
              <a:lnSpc>
                <a:spcPct val="100000"/>
              </a:lnSpc>
              <a:buFont typeface="Arial" panose="020B0604020202020204" pitchFamily="34" charset="0"/>
              <a:buChar char="•"/>
              <a:defRPr sz="1200"/>
            </a:lvl4pPr>
            <a:lvl5pPr marL="1085850" indent="-171450">
              <a:lnSpc>
                <a:spcPct val="100000"/>
              </a:lnSpc>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6" y="640077"/>
            <a:ext cx="3021529" cy="2011953"/>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5777561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9152" y="1993348"/>
            <a:ext cx="5442604" cy="4220413"/>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580910" y="1993349"/>
            <a:ext cx="4657891" cy="4220413"/>
          </a:xfrm>
        </p:spPr>
        <p:txBody>
          <a:bodyPr/>
          <a:lstStyle>
            <a:lvl1pPr>
              <a:lnSpc>
                <a:spcPct val="100000"/>
              </a:lnSpc>
              <a:defRPr sz="1800"/>
            </a:lvl1pPr>
            <a:lvl2pPr>
              <a:lnSpc>
                <a:spcPct val="100000"/>
              </a:lnSpc>
              <a:defRPr sz="1800"/>
            </a:lvl2pPr>
            <a:lvl3pPr>
              <a:lnSpc>
                <a:spcPct val="100000"/>
              </a:lnSpc>
              <a:defRPr sz="16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8"/>
            <a:ext cx="10690154" cy="93388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3820285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48647" y="2662000"/>
            <a:ext cx="4907263" cy="355176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04554" y="640077"/>
            <a:ext cx="5234247" cy="55736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77"/>
            <a:ext cx="4907265" cy="1602540"/>
          </a:xfrm>
        </p:spPr>
        <p:txBody>
          <a:bodyPr>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6140625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48647" y="2662000"/>
            <a:ext cx="3871623" cy="3551762"/>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8917" y="640077"/>
            <a:ext cx="6249382" cy="5573685"/>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7" y="640077"/>
            <a:ext cx="3871623" cy="1602540"/>
          </a:xfrm>
        </p:spPr>
        <p:txBody>
          <a:bodyPr lIns="91440" tIns="91440"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4781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48647" y="5299364"/>
            <a:ext cx="10746884" cy="914398"/>
          </a:xfrm>
        </p:spPr>
        <p:txBody>
          <a:bodyPr anchor="t">
            <a:normAutofit/>
          </a:bodyPr>
          <a:lstStyle>
            <a:lvl1pPr marL="0" indent="0" algn="l">
              <a:lnSpc>
                <a:spcPct val="100000"/>
              </a:lnSpc>
              <a:buNone/>
              <a:defRPr sz="22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8" y="640078"/>
            <a:ext cx="10746881" cy="4261106"/>
          </a:xfrm>
        </p:spPr>
        <p:txBody>
          <a:bodyPr anchor="b">
            <a:normAutofit/>
          </a:bodyPr>
          <a:lstStyle>
            <a:lvl1pPr algn="l">
              <a:defRPr sz="20000">
                <a:solidFill>
                  <a:schemeClr val="tx1"/>
                </a:solidFill>
              </a:defRPr>
            </a:lvl1pPr>
          </a:lstStyle>
          <a:p>
            <a:r>
              <a:rPr lang="en-US" dirty="0"/>
              <a:t>##%</a:t>
            </a:r>
          </a:p>
        </p:txBody>
      </p:sp>
    </p:spTree>
    <p:extLst>
      <p:ext uri="{BB962C8B-B14F-4D97-AF65-F5344CB8AC3E}">
        <p14:creationId xmlns:p14="http://schemas.microsoft.com/office/powerpoint/2010/main" val="21893946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87636"/>
            <a:ext cx="7525512" cy="122612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8" y="640078"/>
            <a:ext cx="10690156" cy="4169666"/>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33920166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3">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EAFE8D-E6F6-F95B-AE55-3E20B32F4478}"/>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483EFCC7-B7E8-4ABE-BBCB-C75FD27800CD}" type="datetime1">
              <a:rPr lang="en-US" smtClean="0"/>
              <a:pPr/>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87636"/>
            <a:ext cx="7525512" cy="122612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48647" y="640078"/>
            <a:ext cx="10690156" cy="4169666"/>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42401474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140A1F3-DA5D-4F2E-B759-748FF8D0ACA9}" type="datetime1">
              <a:rPr lang="en-US" smtClean="0"/>
              <a:t>5/5/2026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640078"/>
            <a:ext cx="8238746" cy="5573684"/>
          </a:xfrm>
        </p:spPr>
        <p:txBody>
          <a:bodyPr anchor="ctr">
            <a:noAutofit/>
          </a:bodyPr>
          <a:lstStyle>
            <a:lvl1pPr marL="0" indent="0">
              <a:lnSpc>
                <a:spcPct val="100000"/>
              </a:lnSpc>
              <a:buNone/>
              <a:defRPr sz="4000" b="1"/>
            </a:lvl1pPr>
            <a:lvl2pPr marL="228600" indent="0">
              <a:lnSpc>
                <a:spcPct val="100000"/>
              </a:lnSpc>
              <a:buNone/>
              <a:defRPr sz="4000" b="1"/>
            </a:lvl2pPr>
            <a:lvl3pPr marL="457200" indent="0">
              <a:lnSpc>
                <a:spcPct val="100000"/>
              </a:lnSpc>
              <a:buNone/>
              <a:defRPr sz="4000" b="1"/>
            </a:lvl3pPr>
            <a:lvl4pPr marL="685800" indent="0">
              <a:lnSpc>
                <a:spcPct val="100000"/>
              </a:lnSpc>
              <a:buNone/>
              <a:defRPr sz="40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888197"/>
            <a:ext cx="10652760" cy="779015"/>
          </a:xfrm>
        </p:spPr>
        <p:txBody>
          <a:bodyPr/>
          <a:lstStyle/>
          <a:p>
            <a:r>
              <a:rPr lang="en-US"/>
              <a:t>Click to edit Master title style</a:t>
            </a:r>
          </a:p>
        </p:txBody>
      </p:sp>
    </p:spTree>
    <p:extLst>
      <p:ext uri="{BB962C8B-B14F-4D97-AF65-F5344CB8AC3E}">
        <p14:creationId xmlns:p14="http://schemas.microsoft.com/office/powerpoint/2010/main" val="30499288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01B1322-4C31-4D1F-88B1-5F79F56892AE}" type="datetime1">
              <a:rPr lang="en-US" smtClean="0"/>
              <a:t>5/5/2026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841525"/>
            <a:ext cx="8238746" cy="591075"/>
          </a:xfrm>
        </p:spPr>
        <p:txBody>
          <a:bodyPr anchor="b">
            <a:noAutofit/>
          </a:bodyPr>
          <a:lstStyle>
            <a:lvl1pPr marL="0" indent="0">
              <a:lnSpc>
                <a:spcPct val="100000"/>
              </a:lnSpc>
              <a:buNone/>
              <a:defRPr sz="18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Master title style</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40078" y="841257"/>
            <a:ext cx="9764686" cy="5372505"/>
          </a:xfrm>
        </p:spPr>
        <p:txBody>
          <a:bodyPr anchor="b"/>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0821880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5/5/2026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78" y="640078"/>
            <a:ext cx="8238746" cy="5573684"/>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Tree>
    <p:extLst>
      <p:ext uri="{BB962C8B-B14F-4D97-AF65-F5344CB8AC3E}">
        <p14:creationId xmlns:p14="http://schemas.microsoft.com/office/powerpoint/2010/main" val="26124799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dirty="0"/>
              <a:t>Click to edit Quote</a:t>
            </a:r>
          </a:p>
        </p:txBody>
      </p:sp>
    </p:spTree>
    <p:extLst>
      <p:ext uri="{BB962C8B-B14F-4D97-AF65-F5344CB8AC3E}">
        <p14:creationId xmlns:p14="http://schemas.microsoft.com/office/powerpoint/2010/main" val="30128999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2">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980CAA-82CE-AE1A-79D9-74B40375C465}"/>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29247CA6-BC1D-429A-A289-4E939E49554A}" type="datetime1">
              <a:rPr lang="en-US" smtClean="0"/>
              <a:pPr/>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3200" b="0"/>
            </a:lvl1pPr>
          </a:lstStyle>
          <a:p>
            <a:r>
              <a:rPr lang="en-US" dirty="0"/>
              <a:t>Click to edit Quote</a:t>
            </a:r>
          </a:p>
        </p:txBody>
      </p:sp>
    </p:spTree>
    <p:extLst>
      <p:ext uri="{BB962C8B-B14F-4D97-AF65-F5344CB8AC3E}">
        <p14:creationId xmlns:p14="http://schemas.microsoft.com/office/powerpoint/2010/main" val="29823345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5/5/2026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40076" y="5669280"/>
            <a:ext cx="8933691" cy="544482"/>
          </a:xfrm>
        </p:spPr>
        <p:txBody>
          <a:bodyPr anchor="ctr">
            <a:normAutofit/>
          </a:bodyPr>
          <a:lstStyle>
            <a:lvl1pPr marL="0" indent="0" algn="l">
              <a:lnSpc>
                <a:spcPct val="100000"/>
              </a:lnSpc>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40078" y="1234440"/>
            <a:ext cx="8933690" cy="3169920"/>
          </a:xfrm>
        </p:spPr>
        <p:txBody>
          <a:bodyPr anchor="ctr">
            <a:normAutofit/>
          </a:bodyPr>
          <a:lstStyle>
            <a:lvl1pPr algn="l">
              <a:lnSpc>
                <a:spcPct val="100000"/>
              </a:lnSpc>
              <a:defRPr sz="4000" b="0"/>
            </a:lvl1pPr>
          </a:lstStyle>
          <a:p>
            <a:r>
              <a:rPr lang="en-US" dirty="0"/>
              <a:t>Click to edit Quote</a:t>
            </a:r>
          </a:p>
        </p:txBody>
      </p:sp>
    </p:spTree>
    <p:extLst>
      <p:ext uri="{BB962C8B-B14F-4D97-AF65-F5344CB8AC3E}">
        <p14:creationId xmlns:p14="http://schemas.microsoft.com/office/powerpoint/2010/main" val="10324946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91CE83-67BA-4B15-B48A-7DC5C0636664}" type="datetime1">
              <a:rPr lang="en-US" smtClean="0"/>
              <a:pPr/>
              <a:t>5/5/2026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9A01C0A-2BB6-49E7-91A3-DCB9F9F59583}" type="slidenum">
              <a:rPr lang="en-US" smtClean="0"/>
              <a:pPr/>
              <a:t>‹#›</a:t>
            </a:fld>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066601" cy="435133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548648" y="1825624"/>
            <a:ext cx="5066602" cy="438813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8" y="640078"/>
            <a:ext cx="10690153" cy="1040820"/>
          </a:xfrm>
        </p:spPr>
        <p:txBody>
          <a:bodyPr/>
          <a:lstStyle/>
          <a:p>
            <a:r>
              <a:rPr lang="en-US"/>
              <a:t>Click to edit Master title style</a:t>
            </a:r>
            <a:endParaRPr lang="en-US" dirty="0"/>
          </a:p>
        </p:txBody>
      </p:sp>
    </p:spTree>
    <p:extLst>
      <p:ext uri="{BB962C8B-B14F-4D97-AF65-F5344CB8AC3E}">
        <p14:creationId xmlns:p14="http://schemas.microsoft.com/office/powerpoint/2010/main" val="638363647"/>
      </p:ext>
    </p:extLst>
  </p:cSld>
  <p:clrMapOvr>
    <a:masterClrMapping/>
  </p:clrMapOvr>
  <p:hf hdr="0" ftr="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5/5/2026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28076" y="2387600"/>
            <a:ext cx="5010725" cy="382616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28076" y="1826185"/>
            <a:ext cx="5010727" cy="419384"/>
          </a:xfrm>
        </p:spPr>
        <p:txBody>
          <a:bodyPr anchor="b">
            <a:normAutofit/>
          </a:bodyPr>
          <a:lstStyle>
            <a:lvl1pPr marL="0" indent="0">
              <a:lnSpc>
                <a:spcPct val="10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548648" y="2387600"/>
            <a:ext cx="5110276" cy="382616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6" y="1826185"/>
            <a:ext cx="5110277" cy="419384"/>
          </a:xfrm>
        </p:spPr>
        <p:txBody>
          <a:bodyPr anchor="b">
            <a:normAutofit/>
          </a:bodyPr>
          <a:lstStyle>
            <a:lvl1pPr marL="0" indent="0">
              <a:lnSpc>
                <a:spcPct val="10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48646" y="640078"/>
            <a:ext cx="10690157" cy="1050610"/>
          </a:xfrm>
        </p:spPr>
        <p:txBody>
          <a:bodyPr/>
          <a:lstStyle/>
          <a:p>
            <a:r>
              <a:rPr lang="en-US"/>
              <a:t>Click to edit Master title style</a:t>
            </a:r>
          </a:p>
        </p:txBody>
      </p:sp>
    </p:spTree>
    <p:extLst>
      <p:ext uri="{BB962C8B-B14F-4D97-AF65-F5344CB8AC3E}">
        <p14:creationId xmlns:p14="http://schemas.microsoft.com/office/powerpoint/2010/main" val="3974819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291CE83-67BA-4B15-B48A-7DC5C0636664}" type="datetime1">
              <a:rPr lang="en-US" smtClean="0"/>
              <a:pPr/>
              <a:t>5/5/2026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274182871"/>
      </p:ext>
    </p:extLst>
  </p:cSld>
  <p:clrMapOvr>
    <a:masterClrMapping/>
  </p:clrMapOvr>
  <p:hf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5/5/2026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039808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291CE83-67BA-4B15-B48A-7DC5C0636664}" type="datetime1">
              <a:rPr lang="en-US" smtClean="0"/>
              <a:pPr/>
              <a:t>5/5/2026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9A01C0A-2BB6-49E7-91A3-DCB9F9F59583}" type="slidenum">
              <a:rPr lang="en-US" smtClean="0"/>
              <a:pPr/>
              <a:t>‹#›</a:t>
            </a:fld>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043260" y="640078"/>
            <a:ext cx="6195542" cy="5573684"/>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48647" y="2470245"/>
            <a:ext cx="3945971" cy="374351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48642" y="640078"/>
            <a:ext cx="3945971" cy="1671043"/>
          </a:xfrm>
        </p:spPr>
        <p:txBody>
          <a:bodyPr anchor="t">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369325753"/>
      </p:ext>
    </p:extLst>
  </p:cSld>
  <p:clrMapOvr>
    <a:masterClrMapping/>
  </p:clrMapOvr>
  <p:hf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4971883" y="640079"/>
            <a:ext cx="6285582" cy="5573684"/>
          </a:xfr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a:lstStyle>
            <a:lvl1pPr marL="0" indent="0">
              <a:lnSpc>
                <a:spcPct val="100000"/>
              </a:lnSpc>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5/5/2026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48647" y="2826137"/>
            <a:ext cx="3879130" cy="338762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44107" y="640079"/>
            <a:ext cx="3879129" cy="2021922"/>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288993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0645BE-AC35-911F-0084-2CC2C836EB4D}"/>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157987AA-E4E6-4FC1-BAD8-09A952212C58}" type="datetime1">
              <a:rPr lang="en-US" smtClean="0"/>
              <a:pPr/>
              <a:t>5/5/2026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8648" y="3594099"/>
            <a:ext cx="10690154" cy="2619663"/>
          </a:xfrm>
        </p:spPr>
        <p:txBody>
          <a:bodyPr/>
          <a:lstStyle>
            <a:lvl1pPr marL="0" indent="0">
              <a:lnSpc>
                <a:spcPct val="100000"/>
              </a:lnSpc>
              <a:buNone/>
              <a:defRPr/>
            </a:lvl1pPr>
            <a:lvl2pPr marL="228600" indent="0">
              <a:lnSpc>
                <a:spcPct val="100000"/>
              </a:lnSpc>
              <a:buNone/>
              <a:defRPr/>
            </a:lvl2pPr>
            <a:lvl3pPr marL="457200" indent="0">
              <a:lnSpc>
                <a:spcPct val="100000"/>
              </a:lnSpc>
              <a:buNone/>
              <a:defRPr/>
            </a:lvl3pPr>
            <a:lvl4pPr marL="685800" indent="0">
              <a:lnSpc>
                <a:spcPct val="100000"/>
              </a:lnSpc>
              <a:buNone/>
              <a:defRPr/>
            </a:lvl4pPr>
            <a:lvl5pPr marL="914400" indent="0">
              <a:lnSpc>
                <a:spcPct val="10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8" y="1847088"/>
            <a:ext cx="7408336" cy="1133856"/>
          </a:xfrm>
        </p:spPr>
        <p:txBody>
          <a:bodyPr anchor="b">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603044790"/>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07E2D40-0539-03CF-D61C-37822ABA17A8}"/>
              </a:ext>
            </a:extLst>
          </p:cNvPr>
          <p:cNvSpPr/>
          <p:nvPr userDrawn="1"/>
        </p:nvSpPr>
        <p:spPr>
          <a:xfrm>
            <a:off x="0" y="-1"/>
            <a:ext cx="11807951"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043CF65F-0E21-48DE-8D75-4BF66A547E8E}" type="datetime1">
              <a:rPr lang="en-US" smtClean="0"/>
              <a:pPr/>
              <a:t>5/5/2026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647" y="3792262"/>
            <a:ext cx="8494767" cy="1279615"/>
          </a:xfrm>
        </p:spPr>
        <p:txBody>
          <a:bodyPr>
            <a:noAutofit/>
          </a:bodyPr>
          <a:lstStyle>
            <a:lvl1pPr marL="0" indent="0">
              <a:lnSpc>
                <a:spcPct val="100000"/>
              </a:lnSpc>
              <a:buNone/>
              <a:defRPr sz="2400"/>
            </a:lvl1pPr>
            <a:lvl2pPr marL="228600" indent="0">
              <a:lnSpc>
                <a:spcPct val="100000"/>
              </a:lnSpc>
              <a:buNone/>
              <a:defRPr sz="2000"/>
            </a:lvl2pPr>
            <a:lvl3pPr marL="457200" indent="0">
              <a:lnSpc>
                <a:spcPct val="100000"/>
              </a:lnSpc>
              <a:buNone/>
              <a:defRPr sz="1800"/>
            </a:lvl3pPr>
            <a:lvl4pPr marL="685800" indent="0">
              <a:lnSpc>
                <a:spcPct val="100000"/>
              </a:lnSpc>
              <a:buNone/>
              <a:defRPr sz="1600"/>
            </a:lvl4pPr>
            <a:lvl5pPr marL="914400" indent="0">
              <a:lnSpc>
                <a:spcPct val="100000"/>
              </a:lnSpc>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7" y="1627318"/>
            <a:ext cx="8494767" cy="1842020"/>
          </a:xfrm>
        </p:spPr>
        <p:txBody>
          <a:bodyPr anchor="b">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977725097"/>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tent photo 18">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46C58F9-5CE0-4282-46E0-3E3A700FDB38}"/>
              </a:ext>
            </a:extLst>
          </p:cNvPr>
          <p:cNvSpPr>
            <a:spLocks noGrp="1"/>
          </p:cNvSpPr>
          <p:nvPr>
            <p:ph type="pic" sz="quarter" idx="10"/>
          </p:nvPr>
        </p:nvSpPr>
        <p:spPr>
          <a:xfrm>
            <a:off x="1395412" y="653461"/>
            <a:ext cx="4597556" cy="5549900"/>
          </a:xfrm>
          <a:custGeom>
            <a:avLst/>
            <a:gdLst>
              <a:gd name="connsiteX0" fmla="*/ 2179508 w 4597556"/>
              <a:gd name="connsiteY0" fmla="*/ 0 h 5549900"/>
              <a:gd name="connsiteX1" fmla="*/ 4597556 w 4597556"/>
              <a:gd name="connsiteY1" fmla="*/ 0 h 5549900"/>
              <a:gd name="connsiteX2" fmla="*/ 4597556 w 4597556"/>
              <a:gd name="connsiteY2" fmla="*/ 2476634 h 5549900"/>
              <a:gd name="connsiteX3" fmla="*/ 4502141 w 4597556"/>
              <a:gd name="connsiteY3" fmla="*/ 2476634 h 5549900"/>
              <a:gd name="connsiteX4" fmla="*/ 4502141 w 4597556"/>
              <a:gd name="connsiteY4" fmla="*/ 4729244 h 5549900"/>
              <a:gd name="connsiteX5" fmla="*/ 4597556 w 4597556"/>
              <a:gd name="connsiteY5" fmla="*/ 4729244 h 5549900"/>
              <a:gd name="connsiteX6" fmla="*/ 4597556 w 4597556"/>
              <a:gd name="connsiteY6" fmla="*/ 5549900 h 5549900"/>
              <a:gd name="connsiteX7" fmla="*/ 0 w 4597556"/>
              <a:gd name="connsiteY7" fmla="*/ 5549900 h 5549900"/>
              <a:gd name="connsiteX8" fmla="*/ 0 w 4597556"/>
              <a:gd name="connsiteY8" fmla="*/ 1321566 h 5549900"/>
              <a:gd name="connsiteX9" fmla="*/ 2179508 w 4597556"/>
              <a:gd name="connsiteY9" fmla="*/ 1321566 h 5549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97556" h="5549900">
                <a:moveTo>
                  <a:pt x="2179508" y="0"/>
                </a:moveTo>
                <a:lnTo>
                  <a:pt x="4597556" y="0"/>
                </a:lnTo>
                <a:lnTo>
                  <a:pt x="4597556" y="2476634"/>
                </a:lnTo>
                <a:lnTo>
                  <a:pt x="4502141" y="2476634"/>
                </a:lnTo>
                <a:lnTo>
                  <a:pt x="4502141" y="4729244"/>
                </a:lnTo>
                <a:lnTo>
                  <a:pt x="4597556" y="4729244"/>
                </a:lnTo>
                <a:lnTo>
                  <a:pt x="4597556" y="5549900"/>
                </a:lnTo>
                <a:lnTo>
                  <a:pt x="0" y="5549900"/>
                </a:lnTo>
                <a:lnTo>
                  <a:pt x="0" y="1321566"/>
                </a:lnTo>
                <a:lnTo>
                  <a:pt x="2179508" y="1321566"/>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3">
            <a:extLst>
              <a:ext uri="{FF2B5EF4-FFF2-40B4-BE49-F238E27FC236}">
                <a16:creationId xmlns:a16="http://schemas.microsoft.com/office/drawing/2014/main" id="{A79D49B1-D905-CE2E-C062-AB1BDD014E8B}"/>
              </a:ext>
            </a:extLst>
          </p:cNvPr>
          <p:cNvSpPr>
            <a:spLocks noGrp="1"/>
          </p:cNvSpPr>
          <p:nvPr>
            <p:ph type="dt" sz="half" idx="11"/>
          </p:nvPr>
        </p:nvSpPr>
        <p:spPr>
          <a:xfrm rot="16200000">
            <a:off x="11577948" y="230006"/>
            <a:ext cx="844062" cy="384047"/>
          </a:xfrm>
        </p:spPr>
        <p:txBody>
          <a:bodyPr/>
          <a:lstStyle>
            <a:lvl1pPr>
              <a:defRPr>
                <a:solidFill>
                  <a:schemeClr val="tx1"/>
                </a:solidFill>
              </a:defRPr>
            </a:lvl1pPr>
          </a:lstStyle>
          <a:p>
            <a:fld id="{043CF65F-0E21-48DE-8D75-4BF66A547E8E}" type="datetime1">
              <a:rPr lang="en-US" smtClean="0"/>
              <a:pPr/>
              <a:t>5/5/2026</a:t>
            </a:fld>
            <a:endParaRPr lang="en-US" dirty="0"/>
          </a:p>
        </p:txBody>
      </p:sp>
      <p:sp>
        <p:nvSpPr>
          <p:cNvPr id="7" name="Footer Placeholder 4">
            <a:extLst>
              <a:ext uri="{FF2B5EF4-FFF2-40B4-BE49-F238E27FC236}">
                <a16:creationId xmlns:a16="http://schemas.microsoft.com/office/drawing/2014/main" id="{B1FC8BC9-F44B-803F-5CD7-ADFC9673F03F}"/>
              </a:ext>
            </a:extLst>
          </p:cNvPr>
          <p:cNvSpPr>
            <a:spLocks noGrp="1"/>
          </p:cNvSpPr>
          <p:nvPr>
            <p:ph type="ftr" sz="quarter" idx="12"/>
          </p:nvPr>
        </p:nvSpPr>
        <p:spPr>
          <a:xfrm rot="16200000">
            <a:off x="9313725" y="3338288"/>
            <a:ext cx="5372505" cy="384047"/>
          </a:xfrm>
        </p:spPr>
        <p:txBody>
          <a:bodyPr/>
          <a:lstStyle>
            <a:lvl1pPr>
              <a:defRPr>
                <a:solidFill>
                  <a:schemeClr val="tx1"/>
                </a:solidFill>
              </a:defRPr>
            </a:lvl1pPr>
          </a:lstStyle>
          <a:p>
            <a:r>
              <a:rPr lang="en-US" dirty="0"/>
              <a:t>Presentation Title</a:t>
            </a:r>
          </a:p>
        </p:txBody>
      </p:sp>
      <p:sp>
        <p:nvSpPr>
          <p:cNvPr id="8" name="Slide Number Placeholder 5">
            <a:extLst>
              <a:ext uri="{FF2B5EF4-FFF2-40B4-BE49-F238E27FC236}">
                <a16:creationId xmlns:a16="http://schemas.microsoft.com/office/drawing/2014/main" id="{AAA75D29-C079-E864-B363-40064D1938B8}"/>
              </a:ext>
            </a:extLst>
          </p:cNvPr>
          <p:cNvSpPr>
            <a:spLocks noGrp="1"/>
          </p:cNvSpPr>
          <p:nvPr>
            <p:ph type="sldNum" sz="quarter" idx="13"/>
          </p:nvPr>
        </p:nvSpPr>
        <p:spPr>
          <a:xfrm rot="16200000">
            <a:off x="11679259" y="6345258"/>
            <a:ext cx="641433" cy="38404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17" name="Rectangle 16">
            <a:extLst>
              <a:ext uri="{FF2B5EF4-FFF2-40B4-BE49-F238E27FC236}">
                <a16:creationId xmlns:a16="http://schemas.microsoft.com/office/drawing/2014/main" id="{CB5BB9C8-B774-7D15-8251-AC8ED5B99387}"/>
              </a:ext>
              <a:ext uri="{C183D7F6-B498-43B3-948B-1728B52AA6E4}">
                <adec:decorative xmlns:adec="http://schemas.microsoft.com/office/drawing/2017/decorative" val="1"/>
              </a:ext>
            </a:extLst>
          </p:cNvPr>
          <p:cNvSpPr/>
          <p:nvPr/>
        </p:nvSpPr>
        <p:spPr>
          <a:xfrm>
            <a:off x="5867073" y="3130095"/>
            <a:ext cx="228928" cy="225261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9" name="Rectangle 8">
            <a:extLst>
              <a:ext uri="{FF2B5EF4-FFF2-40B4-BE49-F238E27FC236}">
                <a16:creationId xmlns:a16="http://schemas.microsoft.com/office/drawing/2014/main" id="{2EBE262A-1515-660C-5ACF-699ADA35F603}"/>
              </a:ext>
              <a:ext uri="{C183D7F6-B498-43B3-948B-1728B52AA6E4}">
                <adec:decorative xmlns:adec="http://schemas.microsoft.com/office/drawing/2017/decorative" val="1"/>
              </a:ext>
            </a:extLst>
          </p:cNvPr>
          <p:cNvSpPr/>
          <p:nvPr userDrawn="1"/>
        </p:nvSpPr>
        <p:spPr>
          <a:xfrm>
            <a:off x="831720" y="640080"/>
            <a:ext cx="2743200" cy="133494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2" y="3127248"/>
            <a:ext cx="4533398" cy="3108960"/>
          </a:xfrm>
        </p:spPr>
        <p:txBody>
          <a:bodyPr lIns="91440" tIns="91440" rIns="0" bIns="0">
            <a:noAutofit/>
          </a:bodyPr>
          <a:lstStyle>
            <a:lvl1pPr marL="0" indent="0">
              <a:lnSpc>
                <a:spcPct val="10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4533398" cy="2157984"/>
          </a:xfrm>
        </p:spPr>
        <p:txBody>
          <a:bodyPr lIns="91440" tIns="91440" rIns="0" bIns="0" anchor="b">
            <a:noAutofit/>
          </a:bodyPr>
          <a:lstStyle>
            <a:lvl1pPr>
              <a:defRPr sz="3200" cap="all" baseline="0"/>
            </a:lvl1pPr>
          </a:lstStyle>
          <a:p>
            <a:r>
              <a:rPr lang="en-US" dirty="0"/>
              <a:t>CLICK TO EDIT MASTER TITLE STYLE</a:t>
            </a:r>
          </a:p>
        </p:txBody>
      </p:sp>
    </p:spTree>
    <p:extLst>
      <p:ext uri="{BB962C8B-B14F-4D97-AF65-F5344CB8AC3E}">
        <p14:creationId xmlns:p14="http://schemas.microsoft.com/office/powerpoint/2010/main" val="273739320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ent Photo 2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F02D30-CC17-F516-802A-A3AE633BF025}"/>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chor="ctr">
            <a:noAutofit/>
          </a:bodyPr>
          <a:lstStyle>
            <a:lvl1pPr algn="ctr">
              <a:defRPr/>
            </a:lvl1pPr>
          </a:lstStyle>
          <a:p>
            <a:r>
              <a:rPr lang="en-US"/>
              <a:t>Click icon to add picture</a:t>
            </a:r>
            <a:endParaRPr lang="en-US" dirty="0"/>
          </a:p>
        </p:txBody>
      </p:sp>
      <p:sp>
        <p:nvSpPr>
          <p:cNvPr id="10" name="Oval 9">
            <a:extLst>
              <a:ext uri="{FF2B5EF4-FFF2-40B4-BE49-F238E27FC236}">
                <a16:creationId xmlns:a16="http://schemas.microsoft.com/office/drawing/2014/main" id="{0EDDC100-1ACB-74B7-3CAE-F0DD05CBE963}"/>
              </a:ext>
            </a:extLst>
          </p:cNvPr>
          <p:cNvSpPr/>
          <p:nvPr userDrawn="1"/>
        </p:nvSpPr>
        <p:spPr>
          <a:xfrm>
            <a:off x="4903412" y="3140474"/>
            <a:ext cx="1314946" cy="131494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AEC7566-C08A-6609-9FDF-AAFB5486D677}"/>
              </a:ext>
            </a:extLst>
          </p:cNvPr>
          <p:cNvSpPr>
            <a:spLocks noGrp="1"/>
          </p:cNvSpPr>
          <p:nvPr>
            <p:ph type="dt" sz="half" idx="10"/>
          </p:nvPr>
        </p:nvSpPr>
        <p:spPr>
          <a:xfrm rot="16200000">
            <a:off x="11577948" y="230006"/>
            <a:ext cx="844062" cy="384047"/>
          </a:xfrm>
        </p:spPr>
        <p:txBody>
          <a:bodyPr/>
          <a:lstStyle>
            <a:lvl1pPr>
              <a:defRPr>
                <a:solidFill>
                  <a:schemeClr val="tx1"/>
                </a:solidFill>
              </a:defRPr>
            </a:lvl1pPr>
          </a:lstStyle>
          <a:p>
            <a:fld id="{043CF65F-0E21-48DE-8D75-4BF66A547E8E}" type="datetime1">
              <a:rPr lang="en-US" smtClean="0"/>
              <a:pPr/>
              <a:t>5/5/2026</a:t>
            </a:fld>
            <a:endParaRPr lang="en-US" dirty="0"/>
          </a:p>
        </p:txBody>
      </p:sp>
      <p:sp>
        <p:nvSpPr>
          <p:cNvPr id="5" name="Footer Placeholder 4">
            <a:extLst>
              <a:ext uri="{FF2B5EF4-FFF2-40B4-BE49-F238E27FC236}">
                <a16:creationId xmlns:a16="http://schemas.microsoft.com/office/drawing/2014/main" id="{6D5F4BAE-32D2-0950-CD30-3DC3084BBE5C}"/>
              </a:ext>
            </a:extLst>
          </p:cNvPr>
          <p:cNvSpPr>
            <a:spLocks noGrp="1"/>
          </p:cNvSpPr>
          <p:nvPr>
            <p:ph type="ftr" sz="quarter" idx="12"/>
          </p:nvPr>
        </p:nvSpPr>
        <p:spPr>
          <a:xfrm rot="16200000">
            <a:off x="9313725" y="3338288"/>
            <a:ext cx="5372505" cy="384047"/>
          </a:xfrm>
        </p:spPr>
        <p:txBody>
          <a:bodyPr/>
          <a:lstStyle>
            <a:lvl1pPr>
              <a:defRPr>
                <a:solidFill>
                  <a:schemeClr val="tx1"/>
                </a:solidFill>
              </a:defRPr>
            </a:lvl1pPr>
          </a:lstStyle>
          <a:p>
            <a:r>
              <a:rPr lang="en-US" dirty="0"/>
              <a:t>Presentation Title</a:t>
            </a:r>
          </a:p>
        </p:txBody>
      </p:sp>
      <p:sp>
        <p:nvSpPr>
          <p:cNvPr id="9" name="Slide Number Placeholder 5">
            <a:extLst>
              <a:ext uri="{FF2B5EF4-FFF2-40B4-BE49-F238E27FC236}">
                <a16:creationId xmlns:a16="http://schemas.microsoft.com/office/drawing/2014/main" id="{B8AA1005-37B1-E8E2-5040-5D847E1FC442}"/>
              </a:ext>
            </a:extLst>
          </p:cNvPr>
          <p:cNvSpPr>
            <a:spLocks noGrp="1"/>
          </p:cNvSpPr>
          <p:nvPr>
            <p:ph type="sldNum" sz="quarter" idx="13"/>
          </p:nvPr>
        </p:nvSpPr>
        <p:spPr>
          <a:xfrm rot="16200000">
            <a:off x="11679259" y="6345258"/>
            <a:ext cx="641433" cy="38404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7" y="2355925"/>
            <a:ext cx="4545393" cy="3843707"/>
          </a:xfrm>
        </p:spPr>
        <p:txBody>
          <a:bodyPr lIns="91440" tIns="91440" rIns="0" bIns="0">
            <a:noAutofit/>
          </a:bodyPr>
          <a:lstStyle>
            <a:lvl1pPr marL="0" indent="0">
              <a:lnSpc>
                <a:spcPct val="10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4545395" cy="1403873"/>
          </a:xfrm>
        </p:spPr>
        <p:txBody>
          <a:bodyPr lIns="91440" tIns="0" rIns="0" bIns="0" anchor="b">
            <a:noAutofit/>
          </a:bodyPr>
          <a:lstStyle>
            <a:lvl1pPr>
              <a:defRPr sz="3200" baseline="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5607601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Big number 4">
    <p:bg>
      <p:bgPr>
        <a:solidFill>
          <a:schemeClr val="bg1"/>
        </a:solidFill>
        <a:effectLst/>
      </p:bgPr>
    </p:bg>
    <p:spTree>
      <p:nvGrpSpPr>
        <p:cNvPr id="1" name=""/>
        <p:cNvGrpSpPr/>
        <p:nvPr/>
      </p:nvGrpSpPr>
      <p:grpSpPr>
        <a:xfrm>
          <a:off x="0" y="0"/>
          <a:ext cx="0" cy="0"/>
          <a:chOff x="0" y="0"/>
          <a:chExt cx="0" cy="0"/>
        </a:xfrm>
      </p:grpSpPr>
      <p:sp>
        <p:nvSpPr>
          <p:cNvPr id="8" name="Freeform 12">
            <a:extLst>
              <a:ext uri="{FF2B5EF4-FFF2-40B4-BE49-F238E27FC236}">
                <a16:creationId xmlns:a16="http://schemas.microsoft.com/office/drawing/2014/main" id="{FA618DAB-55E2-19CE-F259-9FB708A90B63}"/>
              </a:ext>
            </a:extLst>
          </p:cNvPr>
          <p:cNvSpPr/>
          <p:nvPr/>
        </p:nvSpPr>
        <p:spPr>
          <a:xfrm>
            <a:off x="1959756"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5" name="Picture Placeholder 4">
            <a:extLst>
              <a:ext uri="{FF2B5EF4-FFF2-40B4-BE49-F238E27FC236}">
                <a16:creationId xmlns:a16="http://schemas.microsoft.com/office/drawing/2014/main" id="{F70796A4-60C9-8766-B669-134765EE1CF7}"/>
              </a:ext>
            </a:extLst>
          </p:cNvPr>
          <p:cNvSpPr>
            <a:spLocks noGrp="1"/>
          </p:cNvSpPr>
          <p:nvPr>
            <p:ph type="pic" sz="quarter" idx="10"/>
          </p:nvPr>
        </p:nvSpPr>
        <p:spPr>
          <a:xfrm>
            <a:off x="1" y="1"/>
            <a:ext cx="12192000" cy="6857999"/>
          </a:xfrm>
          <a:custGeom>
            <a:avLst/>
            <a:gdLst>
              <a:gd name="connsiteX0" fmla="*/ 7783170 w 12192000"/>
              <a:gd name="connsiteY0" fmla="*/ 0 h 6857999"/>
              <a:gd name="connsiteX1" fmla="*/ 12192000 w 12192000"/>
              <a:gd name="connsiteY1" fmla="*/ 0 h 6857999"/>
              <a:gd name="connsiteX2" fmla="*/ 12192000 w 12192000"/>
              <a:gd name="connsiteY2" fmla="*/ 6857999 h 6857999"/>
              <a:gd name="connsiteX3" fmla="*/ 8852792 w 12192000"/>
              <a:gd name="connsiteY3" fmla="*/ 6857999 h 6857999"/>
              <a:gd name="connsiteX4" fmla="*/ 8985470 w 12192000"/>
              <a:gd name="connsiteY4" fmla="*/ 6735959 h 6857999"/>
              <a:gd name="connsiteX5" fmla="*/ 10232243 w 12192000"/>
              <a:gd name="connsiteY5" fmla="*/ 3776315 h 6857999"/>
              <a:gd name="connsiteX6" fmla="*/ 7889232 w 12192000"/>
              <a:gd name="connsiteY6" fmla="*/ 47950 h 6857999"/>
              <a:gd name="connsiteX7" fmla="*/ 0 w 12192000"/>
              <a:gd name="connsiteY7" fmla="*/ 0 h 6857999"/>
              <a:gd name="connsiteX8" fmla="*/ 4408830 w 12192000"/>
              <a:gd name="connsiteY8" fmla="*/ 0 h 6857999"/>
              <a:gd name="connsiteX9" fmla="*/ 4302768 w 12192000"/>
              <a:gd name="connsiteY9" fmla="*/ 47950 h 6857999"/>
              <a:gd name="connsiteX10" fmla="*/ 1959755 w 12192000"/>
              <a:gd name="connsiteY10" fmla="*/ 3776315 h 6857999"/>
              <a:gd name="connsiteX11" fmla="*/ 3206528 w 12192000"/>
              <a:gd name="connsiteY11" fmla="*/ 6735959 h 6857999"/>
              <a:gd name="connsiteX12" fmla="*/ 3339206 w 12192000"/>
              <a:gd name="connsiteY12" fmla="*/ 6857999 h 6857999"/>
              <a:gd name="connsiteX13" fmla="*/ 0 w 12192000"/>
              <a:gd name="connsiteY1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7999">
                <a:moveTo>
                  <a:pt x="7783170" y="0"/>
                </a:moveTo>
                <a:lnTo>
                  <a:pt x="12192000" y="0"/>
                </a:lnTo>
                <a:lnTo>
                  <a:pt x="12192000" y="6857999"/>
                </a:lnTo>
                <a:lnTo>
                  <a:pt x="8852792" y="6857999"/>
                </a:lnTo>
                <a:lnTo>
                  <a:pt x="8985470" y="6735959"/>
                </a:lnTo>
                <a:cubicBezTo>
                  <a:pt x="9754697" y="5984857"/>
                  <a:pt x="10232243" y="4936354"/>
                  <a:pt x="10232243" y="3776315"/>
                </a:cubicBezTo>
                <a:cubicBezTo>
                  <a:pt x="10232243" y="2134414"/>
                  <a:pt x="9275569" y="715956"/>
                  <a:pt x="7889232" y="47950"/>
                </a:cubicBezTo>
                <a:close/>
                <a:moveTo>
                  <a:pt x="0" y="0"/>
                </a:moveTo>
                <a:lnTo>
                  <a:pt x="4408830" y="0"/>
                </a:lnTo>
                <a:lnTo>
                  <a:pt x="4302768" y="47950"/>
                </a:lnTo>
                <a:cubicBezTo>
                  <a:pt x="2916429" y="715956"/>
                  <a:pt x="1959755" y="2134414"/>
                  <a:pt x="1959755" y="3776315"/>
                </a:cubicBezTo>
                <a:cubicBezTo>
                  <a:pt x="1959755" y="4936354"/>
                  <a:pt x="2437301" y="5984857"/>
                  <a:pt x="3206528" y="6735959"/>
                </a:cubicBezTo>
                <a:lnTo>
                  <a:pt x="3339206" y="6857999"/>
                </a:lnTo>
                <a:lnTo>
                  <a:pt x="0" y="6857999"/>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4" name="Text Placeholder 2">
            <a:extLst>
              <a:ext uri="{FF2B5EF4-FFF2-40B4-BE49-F238E27FC236}">
                <a16:creationId xmlns:a16="http://schemas.microsoft.com/office/drawing/2014/main" id="{C3914349-C0B8-28DF-90F8-5E6D083FE893}"/>
              </a:ext>
            </a:extLst>
          </p:cNvPr>
          <p:cNvSpPr>
            <a:spLocks noGrp="1"/>
          </p:cNvSpPr>
          <p:nvPr>
            <p:ph type="body" idx="1"/>
          </p:nvPr>
        </p:nvSpPr>
        <p:spPr>
          <a:xfrm>
            <a:off x="3898642" y="5313785"/>
            <a:ext cx="4394716" cy="764778"/>
          </a:xfrm>
        </p:spPr>
        <p:txBody>
          <a:bodyPr lIns="0" tIns="0" rIns="0" bIns="0" anchor="t">
            <a:noAutofit/>
          </a:bodyPr>
          <a:lstStyle>
            <a:lvl1pPr marL="0" indent="0" algn="ctr">
              <a:lnSpc>
                <a:spcPct val="100000"/>
              </a:lnSpc>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 name="Title 1">
            <a:extLst>
              <a:ext uri="{FF2B5EF4-FFF2-40B4-BE49-F238E27FC236}">
                <a16:creationId xmlns:a16="http://schemas.microsoft.com/office/drawing/2014/main" id="{5193AC60-CD84-E768-28B4-375CFF097099}"/>
              </a:ext>
            </a:extLst>
          </p:cNvPr>
          <p:cNvSpPr>
            <a:spLocks noGrp="1"/>
          </p:cNvSpPr>
          <p:nvPr>
            <p:ph type="title" hasCustomPrompt="1"/>
          </p:nvPr>
        </p:nvSpPr>
        <p:spPr>
          <a:xfrm>
            <a:off x="2611367" y="1161826"/>
            <a:ext cx="6969267" cy="3808207"/>
          </a:xfrm>
        </p:spPr>
        <p:txBody>
          <a:bodyPr lIns="0" tIns="0" rIns="0" bIns="0" anchor="b">
            <a:noAutofit/>
          </a:bodyPr>
          <a:lstStyle>
            <a:lvl1pPr algn="ctr">
              <a:defRPr sz="20000" b="1" i="0" baseline="0">
                <a:solidFill>
                  <a:schemeClr val="tx1"/>
                </a:solidFill>
                <a:latin typeface="+mj-lt"/>
                <a:cs typeface="Arial Black" panose="020B0604020202020204" pitchFamily="34" charset="0"/>
              </a:defRPr>
            </a:lvl1pPr>
          </a:lstStyle>
          <a:p>
            <a:r>
              <a:rPr lang="en-US" dirty="0"/>
              <a:t>##%</a:t>
            </a:r>
          </a:p>
        </p:txBody>
      </p:sp>
    </p:spTree>
    <p:extLst>
      <p:ext uri="{BB962C8B-B14F-4D97-AF65-F5344CB8AC3E}">
        <p14:creationId xmlns:p14="http://schemas.microsoft.com/office/powerpoint/2010/main" val="11886961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tent photo 19">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EFFF036-D459-D142-290E-9C1B19A24203}"/>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274474 w 4577463"/>
              <a:gd name="connsiteY7" fmla="*/ 586012 h 3698875"/>
              <a:gd name="connsiteX8" fmla="*/ 363537 w 4577463"/>
              <a:gd name="connsiteY8" fmla="*/ 520753 h 3698875"/>
              <a:gd name="connsiteX9" fmla="*/ 391698 w 4577463"/>
              <a:gd name="connsiteY9" fmla="*/ 572636 h 3698875"/>
              <a:gd name="connsiteX10" fmla="*/ 927495 w 4577463"/>
              <a:gd name="connsiteY10" fmla="*/ 857517 h 3698875"/>
              <a:gd name="connsiteX11" fmla="*/ 1573644 w 4577463"/>
              <a:gd name="connsiteY11" fmla="*/ 211368 h 3698875"/>
              <a:gd name="connsiteX12" fmla="*/ 1560517 w 4577463"/>
              <a:gd name="connsiteY12" fmla="*/ 81147 h 3698875"/>
              <a:gd name="connsiteX13" fmla="*/ 1545169 w 4577463"/>
              <a:gd name="connsiteY13" fmla="*/ 31706 h 3698875"/>
              <a:gd name="connsiteX14" fmla="*/ 1668191 w 4577463"/>
              <a:gd name="connsiteY14" fmla="*/ 13227 h 3698875"/>
              <a:gd name="connsiteX15" fmla="*/ 1934275 w 4577463"/>
              <a:gd name="connsiteY15"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147368" y="693734"/>
                  <a:pt x="209659" y="638373"/>
                  <a:pt x="274474" y="586012"/>
                </a:cubicBezTo>
                <a:lnTo>
                  <a:pt x="363537" y="520753"/>
                </a:lnTo>
                <a:lnTo>
                  <a:pt x="391698" y="572636"/>
                </a:lnTo>
                <a:cubicBezTo>
                  <a:pt x="507816" y="744513"/>
                  <a:pt x="704459" y="857517"/>
                  <a:pt x="927495" y="857517"/>
                </a:cubicBezTo>
                <a:cubicBezTo>
                  <a:pt x="1284353" y="857517"/>
                  <a:pt x="1573644" y="568226"/>
                  <a:pt x="1573644" y="211368"/>
                </a:cubicBezTo>
                <a:cubicBezTo>
                  <a:pt x="1573644" y="166761"/>
                  <a:pt x="1569124" y="123209"/>
                  <a:pt x="1560517" y="81147"/>
                </a:cubicBezTo>
                <a:lnTo>
                  <a:pt x="1545169" y="31706"/>
                </a:lnTo>
                <a:lnTo>
                  <a:pt x="1668191" y="13227"/>
                </a:lnTo>
                <a:cubicBezTo>
                  <a:pt x="1755699" y="4480"/>
                  <a:pt x="1844464" y="0"/>
                  <a:pt x="1934275" y="0"/>
                </a:cubicBez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lvl1pPr algn="ctr">
              <a:defRPr/>
            </a:lvl1pPr>
          </a:lstStyle>
          <a:p>
            <a:r>
              <a:rPr lang="en-US"/>
              <a:t>Click icon to add picture</a:t>
            </a:r>
            <a:endParaRPr lang="en-US" dirty="0"/>
          </a:p>
        </p:txBody>
      </p:sp>
      <p:sp>
        <p:nvSpPr>
          <p:cNvPr id="2" name="Oval 1">
            <a:extLst>
              <a:ext uri="{FF2B5EF4-FFF2-40B4-BE49-F238E27FC236}">
                <a16:creationId xmlns:a16="http://schemas.microsoft.com/office/drawing/2014/main" id="{57F89ECF-F048-57F5-57EF-0CAB335C28F5}"/>
              </a:ext>
              <a:ext uri="{C183D7F6-B498-43B3-948B-1728B52AA6E4}">
                <adec:decorative xmlns:adec="http://schemas.microsoft.com/office/drawing/2017/decorative" val="1"/>
              </a:ext>
            </a:extLst>
          </p:cNvPr>
          <p:cNvSpPr/>
          <p:nvPr userDrawn="1"/>
        </p:nvSpPr>
        <p:spPr>
          <a:xfrm>
            <a:off x="281346" y="2724345"/>
            <a:ext cx="1292298" cy="1292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6" name="Date Placeholder 4">
            <a:extLst>
              <a:ext uri="{FF2B5EF4-FFF2-40B4-BE49-F238E27FC236}">
                <a16:creationId xmlns:a16="http://schemas.microsoft.com/office/drawing/2014/main" id="{D4ABEAE2-DE31-12F1-AAD1-82AEE3737D05}"/>
              </a:ext>
            </a:extLst>
          </p:cNvPr>
          <p:cNvSpPr>
            <a:spLocks noGrp="1"/>
          </p:cNvSpPr>
          <p:nvPr>
            <p:ph type="dt" sz="half" idx="14"/>
          </p:nvPr>
        </p:nvSpPr>
        <p:spPr>
          <a:xfrm rot="16200000">
            <a:off x="11577948" y="230006"/>
            <a:ext cx="844062" cy="384047"/>
          </a:xfrm>
        </p:spPr>
        <p:txBody>
          <a:bodyPr/>
          <a:lstStyle/>
          <a:p>
            <a:fld id="{3D157344-9CC7-412D-8C20-072BE86D5A11}" type="datetime1">
              <a:rPr lang="en-US" smtClean="0"/>
              <a:t>5/5/2026</a:t>
            </a:fld>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
        <p:nvSpPr>
          <p:cNvPr id="16" name="Content Placeholder 7">
            <a:extLst>
              <a:ext uri="{FF2B5EF4-FFF2-40B4-BE49-F238E27FC236}">
                <a16:creationId xmlns:a16="http://schemas.microsoft.com/office/drawing/2014/main" id="{218D7EE8-EBB2-8592-C06C-14CF0BA0260D}"/>
              </a:ext>
            </a:extLst>
          </p:cNvPr>
          <p:cNvSpPr>
            <a:spLocks noGrp="1"/>
          </p:cNvSpPr>
          <p:nvPr>
            <p:ph sz="quarter" idx="16"/>
          </p:nvPr>
        </p:nvSpPr>
        <p:spPr>
          <a:xfrm>
            <a:off x="5434828" y="640077"/>
            <a:ext cx="5783472" cy="5573685"/>
          </a:xfrm>
        </p:spPr>
        <p:txBody>
          <a:bodyPr lIns="91440" tIns="9144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C44AB011-4A5C-6D4B-BB9B-30BA4193742C}"/>
              </a:ext>
            </a:extLst>
          </p:cNvPr>
          <p:cNvSpPr>
            <a:spLocks noGrp="1"/>
          </p:cNvSpPr>
          <p:nvPr>
            <p:ph type="title" hasCustomPrompt="1"/>
          </p:nvPr>
        </p:nvSpPr>
        <p:spPr>
          <a:xfrm>
            <a:off x="548648" y="640078"/>
            <a:ext cx="4317028" cy="2084268"/>
          </a:xfrm>
        </p:spPr>
        <p:txBody>
          <a:bodyPr lIns="91440" tIns="91440" rIns="0" bIns="0">
            <a:noAutofit/>
          </a:bodyPr>
          <a:lstStyle>
            <a:lvl1pPr>
              <a:defRPr sz="3200" baseline="0"/>
            </a:lvl1pPr>
          </a:lstStyle>
          <a:p>
            <a:r>
              <a:rPr lang="en-US" dirty="0"/>
              <a:t>CLICK TO EDIT MASTER TITLE STYLE</a:t>
            </a:r>
          </a:p>
        </p:txBody>
      </p:sp>
    </p:spTree>
    <p:extLst>
      <p:ext uri="{BB962C8B-B14F-4D97-AF65-F5344CB8AC3E}">
        <p14:creationId xmlns:p14="http://schemas.microsoft.com/office/powerpoint/2010/main" val="27364219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tent photo 20">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041D3CD-4172-159B-50BA-195FCCAE119E}"/>
              </a:ext>
            </a:extLst>
          </p:cNvPr>
          <p:cNvSpPr>
            <a:spLocks noGrp="1"/>
          </p:cNvSpPr>
          <p:nvPr>
            <p:ph type="pic" sz="quarter" idx="17"/>
          </p:nvPr>
        </p:nvSpPr>
        <p:spPr>
          <a:xfrm>
            <a:off x="1" y="0"/>
            <a:ext cx="4089921" cy="4639206"/>
          </a:xfrm>
          <a:custGeom>
            <a:avLst/>
            <a:gdLst>
              <a:gd name="connsiteX0" fmla="*/ 0 w 4089921"/>
              <a:gd name="connsiteY0" fmla="*/ 0 h 4639206"/>
              <a:gd name="connsiteX1" fmla="*/ 3216644 w 4089921"/>
              <a:gd name="connsiteY1" fmla="*/ 0 h 4639206"/>
              <a:gd name="connsiteX2" fmla="*/ 3308243 w 4089921"/>
              <a:gd name="connsiteY2" fmla="*/ 83250 h 4639206"/>
              <a:gd name="connsiteX3" fmla="*/ 4089921 w 4089921"/>
              <a:gd name="connsiteY3" fmla="*/ 1970389 h 4639206"/>
              <a:gd name="connsiteX4" fmla="*/ 3308243 w 4089921"/>
              <a:gd name="connsiteY4" fmla="*/ 3857528 h 4639206"/>
              <a:gd name="connsiteX5" fmla="*/ 3279358 w 4089921"/>
              <a:gd name="connsiteY5" fmla="*/ 3883780 h 4639206"/>
              <a:gd name="connsiteX6" fmla="*/ 3254520 w 4089921"/>
              <a:gd name="connsiteY6" fmla="*/ 3853677 h 4639206"/>
              <a:gd name="connsiteX7" fmla="*/ 2797624 w 4089921"/>
              <a:gd name="connsiteY7" fmla="*/ 3664424 h 4639206"/>
              <a:gd name="connsiteX8" fmla="*/ 2151475 w 4089921"/>
              <a:gd name="connsiteY8" fmla="*/ 4310573 h 4639206"/>
              <a:gd name="connsiteX9" fmla="*/ 2164603 w 4089921"/>
              <a:gd name="connsiteY9" fmla="*/ 4440795 h 4639206"/>
              <a:gd name="connsiteX10" fmla="*/ 2190853 w 4089921"/>
              <a:gd name="connsiteY10" fmla="*/ 4525361 h 4639206"/>
              <a:gd name="connsiteX11" fmla="*/ 1958964 w 4089921"/>
              <a:gd name="connsiteY11" fmla="*/ 4584985 h 4639206"/>
              <a:gd name="connsiteX12" fmla="*/ 1421104 w 4089921"/>
              <a:gd name="connsiteY12" fmla="*/ 4639206 h 4639206"/>
              <a:gd name="connsiteX13" fmla="*/ 148987 w 4089921"/>
              <a:gd name="connsiteY13" fmla="*/ 4317094 h 4639206"/>
              <a:gd name="connsiteX14" fmla="*/ 0 w 4089921"/>
              <a:gd name="connsiteY14" fmla="*/ 4226582 h 463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89921" h="4639206">
                <a:moveTo>
                  <a:pt x="0" y="0"/>
                </a:moveTo>
                <a:lnTo>
                  <a:pt x="3216644" y="0"/>
                </a:lnTo>
                <a:lnTo>
                  <a:pt x="3308243" y="83250"/>
                </a:lnTo>
                <a:cubicBezTo>
                  <a:pt x="3791204" y="566211"/>
                  <a:pt x="4089921" y="1233416"/>
                  <a:pt x="4089921" y="1970389"/>
                </a:cubicBezTo>
                <a:cubicBezTo>
                  <a:pt x="4089921" y="2707363"/>
                  <a:pt x="3791204" y="3374567"/>
                  <a:pt x="3308243" y="3857528"/>
                </a:cubicBezTo>
                <a:lnTo>
                  <a:pt x="3279358" y="3883780"/>
                </a:lnTo>
                <a:lnTo>
                  <a:pt x="3254520" y="3853677"/>
                </a:lnTo>
                <a:cubicBezTo>
                  <a:pt x="3137590" y="3736747"/>
                  <a:pt x="2976053" y="3664424"/>
                  <a:pt x="2797624" y="3664424"/>
                </a:cubicBezTo>
                <a:cubicBezTo>
                  <a:pt x="2440766" y="3664424"/>
                  <a:pt x="2151475" y="3953715"/>
                  <a:pt x="2151475" y="4310573"/>
                </a:cubicBezTo>
                <a:cubicBezTo>
                  <a:pt x="2151475" y="4355180"/>
                  <a:pt x="2155995" y="4398732"/>
                  <a:pt x="2164603" y="4440795"/>
                </a:cubicBezTo>
                <a:lnTo>
                  <a:pt x="2190853" y="4525361"/>
                </a:lnTo>
                <a:lnTo>
                  <a:pt x="1958964" y="4584985"/>
                </a:lnTo>
                <a:cubicBezTo>
                  <a:pt x="1785230" y="4620536"/>
                  <a:pt x="1605347" y="4639206"/>
                  <a:pt x="1421104" y="4639206"/>
                </a:cubicBezTo>
                <a:cubicBezTo>
                  <a:pt x="960496" y="4639206"/>
                  <a:pt x="527141" y="4522520"/>
                  <a:pt x="148987" y="4317094"/>
                </a:cubicBezTo>
                <a:lnTo>
                  <a:pt x="0" y="4226582"/>
                </a:lnTo>
                <a:close/>
              </a:path>
            </a:pathLst>
          </a:custGeom>
          <a:blipFill dpi="0" rotWithShape="1">
            <a:blip r:embed="rId2" cstate="email">
              <a:alphaModFix amt="8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2" name="Oval 1">
            <a:extLst>
              <a:ext uri="{FF2B5EF4-FFF2-40B4-BE49-F238E27FC236}">
                <a16:creationId xmlns:a16="http://schemas.microsoft.com/office/drawing/2014/main" id="{CCA47180-C126-D9FC-1291-43F1766DE885}"/>
              </a:ext>
              <a:ext uri="{C183D7F6-B498-43B3-948B-1728B52AA6E4}">
                <adec:decorative xmlns:adec="http://schemas.microsoft.com/office/drawing/2017/decorative" val="1"/>
              </a:ext>
            </a:extLst>
          </p:cNvPr>
          <p:cNvSpPr/>
          <p:nvPr userDrawn="1"/>
        </p:nvSpPr>
        <p:spPr>
          <a:xfrm>
            <a:off x="2151476" y="3664424"/>
            <a:ext cx="1292298" cy="1292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
        <p:nvSpPr>
          <p:cNvPr id="6" name="Date Placeholder 4">
            <a:extLst>
              <a:ext uri="{FF2B5EF4-FFF2-40B4-BE49-F238E27FC236}">
                <a16:creationId xmlns:a16="http://schemas.microsoft.com/office/drawing/2014/main" id="{D4ABEAE2-DE31-12F1-AAD1-82AEE3737D05}"/>
              </a:ext>
            </a:extLst>
          </p:cNvPr>
          <p:cNvSpPr>
            <a:spLocks noGrp="1"/>
          </p:cNvSpPr>
          <p:nvPr>
            <p:ph type="dt" sz="half" idx="14"/>
          </p:nvPr>
        </p:nvSpPr>
        <p:spPr>
          <a:xfrm rot="16200000">
            <a:off x="11577948" y="230006"/>
            <a:ext cx="844062" cy="384047"/>
          </a:xfrm>
        </p:spPr>
        <p:txBody>
          <a:bodyPr/>
          <a:lstStyle/>
          <a:p>
            <a:fld id="{3D157344-9CC7-412D-8C20-072BE86D5A11}" type="datetime1">
              <a:rPr lang="en-US" smtClean="0"/>
              <a:t>5/5/2026</a:t>
            </a:fld>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
        <p:nvSpPr>
          <p:cNvPr id="16" name="Content Placeholder 7">
            <a:extLst>
              <a:ext uri="{FF2B5EF4-FFF2-40B4-BE49-F238E27FC236}">
                <a16:creationId xmlns:a16="http://schemas.microsoft.com/office/drawing/2014/main" id="{218D7EE8-EBB2-8592-C06C-14CF0BA0260D}"/>
              </a:ext>
            </a:extLst>
          </p:cNvPr>
          <p:cNvSpPr>
            <a:spLocks noGrp="1"/>
          </p:cNvSpPr>
          <p:nvPr>
            <p:ph sz="quarter" idx="16"/>
          </p:nvPr>
        </p:nvSpPr>
        <p:spPr>
          <a:xfrm>
            <a:off x="4679577" y="5142155"/>
            <a:ext cx="6538723" cy="1071607"/>
          </a:xfrm>
        </p:spPr>
        <p:txBody>
          <a:bodyPr lIns="91440" tIns="9144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C44AB011-4A5C-6D4B-BB9B-30BA4193742C}"/>
              </a:ext>
            </a:extLst>
          </p:cNvPr>
          <p:cNvSpPr>
            <a:spLocks noGrp="1"/>
          </p:cNvSpPr>
          <p:nvPr>
            <p:ph type="title" hasCustomPrompt="1"/>
          </p:nvPr>
        </p:nvSpPr>
        <p:spPr>
          <a:xfrm>
            <a:off x="4679577" y="640078"/>
            <a:ext cx="6538722" cy="4179348"/>
          </a:xfrm>
        </p:spPr>
        <p:txBody>
          <a:bodyPr lIns="91440" tIns="0" rIns="0" bIns="0" anchor="b">
            <a:noAutofit/>
          </a:bodyPr>
          <a:lstStyle>
            <a:lvl1pPr>
              <a:defRPr sz="20000" baseline="0"/>
            </a:lvl1pPr>
          </a:lstStyle>
          <a:p>
            <a:r>
              <a:rPr lang="en-US" dirty="0"/>
              <a:t>##%</a:t>
            </a:r>
          </a:p>
        </p:txBody>
      </p:sp>
    </p:spTree>
    <p:extLst>
      <p:ext uri="{BB962C8B-B14F-4D97-AF65-F5344CB8AC3E}">
        <p14:creationId xmlns:p14="http://schemas.microsoft.com/office/powerpoint/2010/main" val="6250806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3">
            <a:extLst>
              <a:ext uri="{FF2B5EF4-FFF2-40B4-BE49-F238E27FC236}">
                <a16:creationId xmlns:a16="http://schemas.microsoft.com/office/drawing/2014/main" id="{CDCDB3F9-C083-E428-E97B-C0CC63BC020A}"/>
              </a:ext>
            </a:extLst>
          </p:cNvPr>
          <p:cNvSpPr>
            <a:spLocks noGrp="1"/>
          </p:cNvSpPr>
          <p:nvPr>
            <p:ph type="dt" sz="half" idx="2"/>
          </p:nvPr>
        </p:nvSpPr>
        <p:spPr>
          <a:xfrm rot="16200000">
            <a:off x="11577948" y="230006"/>
            <a:ext cx="844062" cy="384047"/>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291CE83-67BA-4B15-B48A-7DC5C0636664}" type="datetime1">
              <a:rPr lang="en-US" smtClean="0"/>
              <a:pPr/>
              <a:t>5/5/2026</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9313725" y="3338288"/>
            <a:ext cx="5372505" cy="384047"/>
          </a:xfrm>
          <a:prstGeom prst="rect">
            <a:avLst/>
          </a:prstGeom>
          <a:noFill/>
        </p:spPr>
        <p:txBody>
          <a:bodyPr vert="horz" lIns="210312" tIns="45720" rIns="91440" bIns="45720" rtlCol="0" anchor="ctr"/>
          <a:lstStyle>
            <a:lvl1pPr algn="l">
              <a:defRPr sz="1200" b="1" cap="all" spc="300" baseline="0">
                <a:solidFill>
                  <a:schemeClr val="tx1"/>
                </a:solidFill>
                <a:latin typeface="+mj-lt"/>
              </a:defRPr>
            </a:lvl1pPr>
          </a:lstStyle>
          <a:p>
            <a:r>
              <a:rPr lang="en-US" dirty="0"/>
              <a:t>Presentation Title</a:t>
            </a:r>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679259" y="6345258"/>
            <a:ext cx="641433" cy="384048"/>
          </a:xfrm>
          <a:prstGeom prst="rect">
            <a:avLst/>
          </a:prstGeom>
        </p:spPr>
        <p:txBody>
          <a:bodyPr vert="horz" lIns="91440" tIns="45720" rIns="91440" bIns="45720" rtlCol="0" anchor="ctr"/>
          <a:lstStyle>
            <a:lvl1pPr algn="ctr">
              <a:defRPr sz="1400">
                <a:solidFill>
                  <a:schemeClr val="tx1"/>
                </a:solidFill>
              </a:defRPr>
            </a:lvl1pPr>
          </a:lstStyle>
          <a:p>
            <a:fld id="{09A01C0A-2BB6-49E7-91A3-DCB9F9F59583}" type="slidenum">
              <a:rPr lang="en-US" smtClean="0"/>
              <a:pPr/>
              <a:t>‹#›</a:t>
            </a:fld>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625490" y="2220977"/>
            <a:ext cx="10953964" cy="3955986"/>
          </a:xfrm>
          <a:prstGeom prst="rect">
            <a:avLst/>
          </a:prstGeom>
        </p:spPr>
        <p:txBody>
          <a:bodyPr vert="horz" lIns="9144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627058" y="640080"/>
            <a:ext cx="10953964" cy="1095059"/>
          </a:xfrm>
          <a:prstGeom prst="rect">
            <a:avLst/>
          </a:prstGeom>
        </p:spPr>
        <p:txBody>
          <a:bodyPr vert="horz" lIns="91440" tIns="91440" rIns="0" bIns="0" rtlCol="0" anchor="t">
            <a:noAutofit/>
          </a:bodyPr>
          <a:lstStyle/>
          <a:p>
            <a:r>
              <a:rPr lang="en-US"/>
              <a:t>Click to edit Master title style</a:t>
            </a:r>
            <a:endParaRPr lang="en-US" dirty="0"/>
          </a:p>
        </p:txBody>
      </p:sp>
    </p:spTree>
    <p:extLst>
      <p:ext uri="{BB962C8B-B14F-4D97-AF65-F5344CB8AC3E}">
        <p14:creationId xmlns:p14="http://schemas.microsoft.com/office/powerpoint/2010/main" val="3277731622"/>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81"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2" r:id="rId52"/>
    <p:sldLayoutId id="2147483783" r:id="rId53"/>
    <p:sldLayoutId id="2147483784" r:id="rId54"/>
    <p:sldLayoutId id="2147483785" r:id="rId55"/>
    <p:sldLayoutId id="2147483786" r:id="rId56"/>
  </p:sldLayoutIdLst>
  <p:hf hdr="0" ftr="0"/>
  <p:txStyles>
    <p:titleStyle>
      <a:lvl1pPr algn="l" defTabSz="914400" rtl="0" eaLnBrk="1" latinLnBrk="0" hangingPunct="1">
        <a:lnSpc>
          <a:spcPct val="90000"/>
        </a:lnSpc>
        <a:spcBef>
          <a:spcPct val="0"/>
        </a:spcBef>
        <a:buNone/>
        <a:defRPr sz="32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mn-lt"/>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mn-lt"/>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mn-lt"/>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6" orient="horz" pos="2160" userDrawn="1">
          <p15:clr>
            <a:srgbClr val="A4A3A4"/>
          </p15:clr>
        </p15:guide>
        <p15:guide id="27" orient="horz" pos="1152" userDrawn="1">
          <p15:clr>
            <a:srgbClr val="547EBF"/>
          </p15:clr>
        </p15:guide>
        <p15:guide id="28" pos="7440" userDrawn="1">
          <p15:clr>
            <a:srgbClr val="547EBF"/>
          </p15:clr>
        </p15:guide>
        <p15:guide id="29" orient="horz" pos="4080" userDrawn="1">
          <p15:clr>
            <a:srgbClr val="547EBF"/>
          </p15:clr>
        </p15:guide>
        <p15:guide id="30" userDrawn="1">
          <p15:clr>
            <a:srgbClr val="547EBF"/>
          </p15:clr>
        </p15:guide>
        <p15:guide id="31" pos="7680" userDrawn="1">
          <p15:clr>
            <a:srgbClr val="547EBF"/>
          </p15:clr>
        </p15:guide>
        <p15:guide id="32" pos="528" userDrawn="1">
          <p15:clr>
            <a:srgbClr val="547EBF"/>
          </p15:clr>
        </p15:guide>
        <p15:guide id="33" pos="6912" userDrawn="1">
          <p15:clr>
            <a:srgbClr val="547EBF"/>
          </p15:clr>
        </p15:guide>
        <p15:guide id="34" orient="horz" pos="240" userDrawn="1">
          <p15:clr>
            <a:srgbClr val="547EBF"/>
          </p15:clr>
        </p15:guide>
        <p15:guide id="3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1.xml"/><Relationship Id="rId5" Type="http://schemas.openxmlformats.org/officeDocument/2006/relationships/image" Target="../media/image34.png"/><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slideLayout" Target="../slideLayouts/slideLayout5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32.xml"/><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548648" y="417444"/>
            <a:ext cx="5091864" cy="4890965"/>
          </a:xfrm>
        </p:spPr>
        <p:txBody>
          <a:bodyPr anchor="b"/>
          <a:lstStyle/>
          <a:p>
            <a:r>
              <a:rPr lang="en-US" dirty="0"/>
              <a:t>Decoding Market Patterns: A Study on Synthetic Stock Data</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548648" y="5557298"/>
            <a:ext cx="5091864" cy="883258"/>
          </a:xfrm>
        </p:spPr>
        <p:txBody>
          <a:bodyPr/>
          <a:lstStyle/>
          <a:p>
            <a:r>
              <a:rPr lang="en-US" dirty="0"/>
              <a:t>Presented by OINDRILA CHAKRABORTY</a:t>
            </a:r>
          </a:p>
        </p:txBody>
      </p:sp>
      <p:pic>
        <p:nvPicPr>
          <p:cNvPr id="8" name="Picture Placeholder 7" descr="Low angle view of a building">
            <a:extLst>
              <a:ext uri="{FF2B5EF4-FFF2-40B4-BE49-F238E27FC236}">
                <a16:creationId xmlns:a16="http://schemas.microsoft.com/office/drawing/2014/main" id="{67D960B2-8A54-F8C8-80BB-D238AE8EBA30}"/>
              </a:ext>
            </a:extLst>
          </p:cNvPr>
          <p:cNvPicPr>
            <a:picLocks noGrp="1" noChangeAspect="1"/>
          </p:cNvPicPr>
          <p:nvPr>
            <p:ph type="pic" idx="10"/>
          </p:nvPr>
        </p:nvPicPr>
        <p:blipFill>
          <a:blip r:embed="rId3" cstate="email">
            <a:extLst>
              <a:ext uri="{28A0092B-C50C-407E-A947-70E740481C1C}">
                <a14:useLocalDpi xmlns:a14="http://schemas.microsoft.com/office/drawing/2010/main"/>
              </a:ext>
            </a:extLst>
          </a:blip>
          <a:srcRect/>
          <a:stretch/>
        </p:blipFill>
        <p:spPr>
          <a:xfrm>
            <a:off x="6096000" y="0"/>
            <a:ext cx="6096000" cy="6858000"/>
          </a:xfrm>
        </p:spPr>
      </p:pic>
      <p:sp>
        <p:nvSpPr>
          <p:cNvPr id="5" name="Freeform 4">
            <a:extLst>
              <a:ext uri="{FF2B5EF4-FFF2-40B4-BE49-F238E27FC236}">
                <a16:creationId xmlns:a16="http://schemas.microsoft.com/office/drawing/2014/main" id="{FF45C2C0-54FA-3BF9-54A1-71B2FE171281}"/>
              </a:ext>
              <a:ext uri="{C183D7F6-B498-43B3-948B-1728B52AA6E4}">
                <adec:decorative xmlns:adec="http://schemas.microsoft.com/office/drawing/2017/decorative" val="1"/>
              </a:ext>
            </a:extLst>
          </p:cNvPr>
          <p:cNvSpPr/>
          <p:nvPr/>
        </p:nvSpPr>
        <p:spPr>
          <a:xfrm rot="10800000">
            <a:off x="5796354" y="0"/>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3867488726"/>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D4493-076B-646C-632C-C4850D176B1F}"/>
              </a:ext>
            </a:extLst>
          </p:cNvPr>
          <p:cNvSpPr>
            <a:spLocks noGrp="1"/>
          </p:cNvSpPr>
          <p:nvPr>
            <p:ph type="title"/>
          </p:nvPr>
        </p:nvSpPr>
        <p:spPr>
          <a:xfrm>
            <a:off x="6696221" y="640080"/>
            <a:ext cx="4533398" cy="2157984"/>
          </a:xfrm>
        </p:spPr>
        <p:txBody>
          <a:bodyPr/>
          <a:lstStyle/>
          <a:p>
            <a:r>
              <a:rPr lang="en-US" dirty="0">
                <a:latin typeface="Algerian" panose="04020705040A02060702" pitchFamily="82" charset="0"/>
              </a:rPr>
              <a:t>Agenda:</a:t>
            </a:r>
          </a:p>
        </p:txBody>
      </p:sp>
      <p:pic>
        <p:nvPicPr>
          <p:cNvPr id="8" name="Picture Placeholder 7" descr="A close-up of a building">
            <a:extLst>
              <a:ext uri="{FF2B5EF4-FFF2-40B4-BE49-F238E27FC236}">
                <a16:creationId xmlns:a16="http://schemas.microsoft.com/office/drawing/2014/main" id="{ADCDD24D-5443-EB78-6473-95B483219A61}"/>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a:stretch/>
        </p:blipFill>
        <p:spPr>
          <a:xfrm>
            <a:off x="1395412" y="653461"/>
            <a:ext cx="4597556" cy="5549900"/>
          </a:xfrm>
        </p:spPr>
      </p:pic>
      <p:sp>
        <p:nvSpPr>
          <p:cNvPr id="4" name="Content Placeholder 3">
            <a:extLst>
              <a:ext uri="{FF2B5EF4-FFF2-40B4-BE49-F238E27FC236}">
                <a16:creationId xmlns:a16="http://schemas.microsoft.com/office/drawing/2014/main" id="{18884734-115E-C400-33C5-37064FF17864}"/>
              </a:ext>
            </a:extLst>
          </p:cNvPr>
          <p:cNvSpPr>
            <a:spLocks noGrp="1"/>
          </p:cNvSpPr>
          <p:nvPr>
            <p:ph idx="1"/>
          </p:nvPr>
        </p:nvSpPr>
        <p:spPr>
          <a:xfrm>
            <a:off x="6696222" y="2798064"/>
            <a:ext cx="3952113" cy="2487168"/>
          </a:xfrm>
        </p:spPr>
        <p:txBody>
          <a:bodyPr/>
          <a:lstStyle/>
          <a:p>
            <a:pPr marL="285750" indent="-285750">
              <a:buFont typeface="Wingdings" panose="05000000000000000000" pitchFamily="2" charset="2"/>
              <a:buChar char="Ø"/>
            </a:pPr>
            <a:r>
              <a:rPr lang="en-US" sz="1400" dirty="0">
                <a:latin typeface="Baskerville Old Face" panose="02020602080505020303" pitchFamily="18" charset="0"/>
              </a:rPr>
              <a:t>Overview of Synthetic Financial Data </a:t>
            </a:r>
          </a:p>
          <a:p>
            <a:pPr marL="285750" indent="-285750">
              <a:buFont typeface="Wingdings" panose="05000000000000000000" pitchFamily="2" charset="2"/>
              <a:buChar char="Ø"/>
            </a:pPr>
            <a:r>
              <a:rPr lang="en-US" sz="1400" dirty="0">
                <a:latin typeface="Baskerville Old Face" panose="02020602080505020303" pitchFamily="18" charset="0"/>
              </a:rPr>
              <a:t>Research Objectives </a:t>
            </a:r>
          </a:p>
          <a:p>
            <a:pPr marL="285750" indent="-285750">
              <a:buFont typeface="Wingdings" panose="05000000000000000000" pitchFamily="2" charset="2"/>
              <a:buChar char="Ø"/>
            </a:pPr>
            <a:r>
              <a:rPr lang="en-US" sz="1400" dirty="0">
                <a:latin typeface="Baskerville Old Face" panose="02020602080505020303" pitchFamily="18" charset="0"/>
              </a:rPr>
              <a:t>Data Understanding &amp; Preparation </a:t>
            </a:r>
          </a:p>
          <a:p>
            <a:pPr marL="285750" indent="-285750">
              <a:buFont typeface="Wingdings" panose="05000000000000000000" pitchFamily="2" charset="2"/>
              <a:buChar char="Ø"/>
            </a:pPr>
            <a:r>
              <a:rPr lang="en-US" sz="1400" dirty="0">
                <a:latin typeface="Baskerville Old Face" panose="02020602080505020303" pitchFamily="18" charset="0"/>
              </a:rPr>
              <a:t>Exploratory Analysis of Stock Patterns </a:t>
            </a:r>
          </a:p>
          <a:p>
            <a:pPr marL="285750" indent="-285750">
              <a:buFont typeface="Wingdings" panose="05000000000000000000" pitchFamily="2" charset="2"/>
              <a:buChar char="Ø"/>
            </a:pPr>
            <a:r>
              <a:rPr lang="en-US" sz="1400" dirty="0">
                <a:latin typeface="Baskerville Old Face" panose="02020602080505020303" pitchFamily="18" charset="0"/>
              </a:rPr>
              <a:t>Statistical Modeling Techniques </a:t>
            </a:r>
          </a:p>
          <a:p>
            <a:pPr marL="285750" indent="-285750">
              <a:buFont typeface="Wingdings" panose="05000000000000000000" pitchFamily="2" charset="2"/>
              <a:buChar char="Ø"/>
            </a:pPr>
            <a:r>
              <a:rPr lang="en-US" sz="1400" dirty="0">
                <a:latin typeface="Baskerville Old Face" panose="02020602080505020303" pitchFamily="18" charset="0"/>
              </a:rPr>
              <a:t>Model Implementation and Evaluation in R </a:t>
            </a:r>
          </a:p>
          <a:p>
            <a:pPr marL="285750" indent="-285750">
              <a:buFont typeface="Wingdings" panose="05000000000000000000" pitchFamily="2" charset="2"/>
              <a:buChar char="Ø"/>
            </a:pPr>
            <a:r>
              <a:rPr lang="en-US" sz="1400" dirty="0">
                <a:latin typeface="Baskerville Old Face" panose="02020602080505020303" pitchFamily="18" charset="0"/>
              </a:rPr>
              <a:t>Performance Evaluation </a:t>
            </a:r>
          </a:p>
          <a:p>
            <a:pPr marL="285750" indent="-285750">
              <a:buFont typeface="Wingdings" panose="05000000000000000000" pitchFamily="2" charset="2"/>
              <a:buChar char="Ø"/>
            </a:pPr>
            <a:r>
              <a:rPr lang="en-US" sz="1400" dirty="0">
                <a:latin typeface="Baskerville Old Face" panose="02020602080505020303" pitchFamily="18" charset="0"/>
              </a:rPr>
              <a:t>Key Insights &amp; Findings </a:t>
            </a:r>
          </a:p>
          <a:p>
            <a:pPr marL="285750" indent="-285750">
              <a:buFont typeface="Wingdings" panose="05000000000000000000" pitchFamily="2" charset="2"/>
              <a:buChar char="Ø"/>
            </a:pPr>
            <a:r>
              <a:rPr lang="en-US" sz="1400" dirty="0">
                <a:latin typeface="Baskerville Old Face" panose="02020602080505020303" pitchFamily="18" charset="0"/>
              </a:rPr>
              <a:t>Conclusion and Future Directions </a:t>
            </a:r>
            <a:endParaRPr lang="en-US" b="1" dirty="0"/>
          </a:p>
          <a:p>
            <a:endParaRPr lang="en-US" dirty="0"/>
          </a:p>
        </p:txBody>
      </p:sp>
      <p:sp>
        <p:nvSpPr>
          <p:cNvPr id="5" name="Date Placeholder 4">
            <a:extLst>
              <a:ext uri="{FF2B5EF4-FFF2-40B4-BE49-F238E27FC236}">
                <a16:creationId xmlns:a16="http://schemas.microsoft.com/office/drawing/2014/main" id="{C333EF7D-B91F-315E-885B-2A4BDE9914AD}"/>
              </a:ext>
            </a:extLst>
          </p:cNvPr>
          <p:cNvSpPr>
            <a:spLocks noGrp="1"/>
          </p:cNvSpPr>
          <p:nvPr>
            <p:ph type="dt" sz="half" idx="11"/>
          </p:nvPr>
        </p:nvSpPr>
        <p:spPr>
          <a:xfrm rot="16200000">
            <a:off x="11577948" y="230006"/>
            <a:ext cx="844062" cy="384047"/>
          </a:xfrm>
        </p:spPr>
        <p:txBody>
          <a:bodyPr/>
          <a:lstStyle/>
          <a:p>
            <a:fld id="{043CF65F-0E21-48DE-8D75-4BF66A547E8E}" type="datetime1">
              <a:rPr lang="en-US" smtClean="0"/>
              <a:pPr/>
              <a:t>5/5/2026</a:t>
            </a:fld>
            <a:endParaRPr lang="en-US" dirty="0"/>
          </a:p>
        </p:txBody>
      </p:sp>
      <p:sp>
        <p:nvSpPr>
          <p:cNvPr id="6" name="Slide Number Placeholder 5">
            <a:extLst>
              <a:ext uri="{FF2B5EF4-FFF2-40B4-BE49-F238E27FC236}">
                <a16:creationId xmlns:a16="http://schemas.microsoft.com/office/drawing/2014/main" id="{ADA4DA9C-4770-ABC3-9345-F7D974B2F122}"/>
              </a:ext>
            </a:extLst>
          </p:cNvPr>
          <p:cNvSpPr>
            <a:spLocks noGrp="1"/>
          </p:cNvSpPr>
          <p:nvPr>
            <p:ph type="sldNum" sz="quarter" idx="13"/>
          </p:nvPr>
        </p:nvSpPr>
        <p:spPr>
          <a:xfrm rot="16200000">
            <a:off x="11679259" y="6345258"/>
            <a:ext cx="641433" cy="384048"/>
          </a:xfrm>
        </p:spPr>
        <p:txBody>
          <a:bodyPr/>
          <a:lstStyle/>
          <a:p>
            <a:fld id="{CC057153-B650-4DEB-B370-79DDCFDCE934}" type="slidenum">
              <a:rPr lang="en-US" smtClean="0"/>
              <a:pPr/>
              <a:t>2</a:t>
            </a:fld>
            <a:endParaRPr lang="en-US" dirty="0"/>
          </a:p>
        </p:txBody>
      </p:sp>
    </p:spTree>
    <p:extLst>
      <p:ext uri="{BB962C8B-B14F-4D97-AF65-F5344CB8AC3E}">
        <p14:creationId xmlns:p14="http://schemas.microsoft.com/office/powerpoint/2010/main" val="814953088"/>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3EC92-526E-8262-53B5-F0AF7F1E43A8}"/>
              </a:ext>
            </a:extLst>
          </p:cNvPr>
          <p:cNvSpPr>
            <a:spLocks noGrp="1"/>
          </p:cNvSpPr>
          <p:nvPr>
            <p:ph type="title"/>
          </p:nvPr>
        </p:nvSpPr>
        <p:spPr/>
        <p:txBody>
          <a:bodyPr/>
          <a:lstStyle/>
          <a:p>
            <a:r>
              <a:rPr lang="en-US" sz="2800" dirty="0"/>
              <a:t>Simulated Markets: An Introduction to Synthetic Data</a:t>
            </a:r>
          </a:p>
        </p:txBody>
      </p:sp>
      <p:sp>
        <p:nvSpPr>
          <p:cNvPr id="4" name="Text Placeholder 3">
            <a:extLst>
              <a:ext uri="{FF2B5EF4-FFF2-40B4-BE49-F238E27FC236}">
                <a16:creationId xmlns:a16="http://schemas.microsoft.com/office/drawing/2014/main" id="{7CF11C81-A4EA-16BC-B023-A1233E306AAE}"/>
              </a:ext>
            </a:extLst>
          </p:cNvPr>
          <p:cNvSpPr>
            <a:spLocks noGrp="1"/>
          </p:cNvSpPr>
          <p:nvPr>
            <p:ph sz="quarter" idx="14"/>
          </p:nvPr>
        </p:nvSpPr>
        <p:spPr/>
        <p:txBody>
          <a:bodyPr/>
          <a:lstStyle/>
          <a:p>
            <a:r>
              <a:rPr lang="en-US" dirty="0"/>
              <a:t>Synthetic stock data is artificially simulated data designed to replicate the characteristics of real financial markets, including price fluctuations, trends, and volatility. Such data is particularly useful for research and academic purposes where access to real financial data may be restricted.</a:t>
            </a:r>
          </a:p>
          <a:p>
            <a:r>
              <a:rPr lang="en-US" dirty="0"/>
              <a:t>In this study, synthetic stock data is analyzed using statistical and machine learning techniques to understand underlying patterns and predict outcomes. The use of models like Logistic Regression and Linear Discriminant Analysis (LDA) helps in classifying and interpreting financial behavior effectively.</a:t>
            </a:r>
          </a:p>
          <a:p>
            <a:pPr marL="0" indent="0">
              <a:buNone/>
            </a:pPr>
            <a:r>
              <a:rPr lang="en-US" sz="1800" dirty="0"/>
              <a:t>First, we will see the dimension, structure and summary of the synthetic stock market dataset.</a:t>
            </a:r>
          </a:p>
        </p:txBody>
      </p:sp>
      <p:pic>
        <p:nvPicPr>
          <p:cNvPr id="8" name="Picture Placeholder 7" descr="A close-up of a bridge">
            <a:extLst>
              <a:ext uri="{FF2B5EF4-FFF2-40B4-BE49-F238E27FC236}">
                <a16:creationId xmlns:a16="http://schemas.microsoft.com/office/drawing/2014/main" id="{EE0796FA-596D-37B0-2C89-6A56D8D93EE3}"/>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p:blipFill>
        <p:spPr/>
      </p:pic>
      <p:sp>
        <p:nvSpPr>
          <p:cNvPr id="5" name="Date Placeholder 4">
            <a:extLst>
              <a:ext uri="{FF2B5EF4-FFF2-40B4-BE49-F238E27FC236}">
                <a16:creationId xmlns:a16="http://schemas.microsoft.com/office/drawing/2014/main" id="{FB50F74D-615D-90B9-C82A-C8BD0ECE27D0}"/>
              </a:ext>
            </a:extLst>
          </p:cNvPr>
          <p:cNvSpPr>
            <a:spLocks noGrp="1"/>
          </p:cNvSpPr>
          <p:nvPr>
            <p:ph type="dt" sz="half" idx="15"/>
          </p:nvPr>
        </p:nvSpPr>
        <p:spPr/>
        <p:txBody>
          <a:bodyPr/>
          <a:lstStyle/>
          <a:p>
            <a:fld id="{043CF65F-0E21-48DE-8D75-4BF66A547E8E}" type="datetime1">
              <a:rPr lang="en-US" smtClean="0"/>
              <a:pPr/>
              <a:t>5/5/2026</a:t>
            </a:fld>
            <a:endParaRPr lang="en-US" dirty="0"/>
          </a:p>
        </p:txBody>
      </p:sp>
      <p:sp>
        <p:nvSpPr>
          <p:cNvPr id="6" name="Slide Number Placeholder 5">
            <a:extLst>
              <a:ext uri="{FF2B5EF4-FFF2-40B4-BE49-F238E27FC236}">
                <a16:creationId xmlns:a16="http://schemas.microsoft.com/office/drawing/2014/main" id="{CC69D1F7-45DB-291B-3555-614D1BC22946}"/>
              </a:ext>
            </a:extLst>
          </p:cNvPr>
          <p:cNvSpPr>
            <a:spLocks noGrp="1"/>
          </p:cNvSpPr>
          <p:nvPr>
            <p:ph type="sldNum" sz="quarter" idx="17"/>
          </p:nvPr>
        </p:nvSpPr>
        <p:spPr/>
        <p:txBody>
          <a:bodyPr/>
          <a:lstStyle/>
          <a:p>
            <a:fld id="{CC057153-B650-4DEB-B370-79DDCFDCE934}" type="slidenum">
              <a:rPr lang="en-US" smtClean="0"/>
              <a:pPr/>
              <a:t>3</a:t>
            </a:fld>
            <a:endParaRPr lang="en-US" dirty="0"/>
          </a:p>
        </p:txBody>
      </p:sp>
      <p:sp>
        <p:nvSpPr>
          <p:cNvPr id="7" name="Freeform 6">
            <a:extLst>
              <a:ext uri="{FF2B5EF4-FFF2-40B4-BE49-F238E27FC236}">
                <a16:creationId xmlns:a16="http://schemas.microsoft.com/office/drawing/2014/main" id="{4B0D0C0D-89F9-C314-0A74-E0433067F0A5}"/>
              </a:ext>
              <a:ext uri="{C183D7F6-B498-43B3-948B-1728B52AA6E4}">
                <adec:decorative xmlns:adec="http://schemas.microsoft.com/office/drawing/2017/decorative" val="1"/>
              </a:ext>
            </a:extLst>
          </p:cNvPr>
          <p:cNvSpPr/>
          <p:nvPr/>
        </p:nvSpPr>
        <p:spPr>
          <a:xfrm>
            <a:off x="6685702" y="5061102"/>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141777014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51CD4D-412E-F81F-65DD-65D70B529635}"/>
              </a:ext>
            </a:extLst>
          </p:cNvPr>
          <p:cNvSpPr>
            <a:spLocks noGrp="1"/>
          </p:cNvSpPr>
          <p:nvPr>
            <p:ph type="dt" sz="half" idx="10"/>
          </p:nvPr>
        </p:nvSpPr>
        <p:spPr/>
        <p:txBody>
          <a:bodyPr/>
          <a:lstStyle/>
          <a:p>
            <a:fld id="{EEE6A364-A39C-470E-B89A-9BD899585684}" type="datetime1">
              <a:rPr lang="en-US" smtClean="0"/>
              <a:t>5/5/2026</a:t>
            </a:fld>
            <a:endParaRPr lang="en-US" dirty="0"/>
          </a:p>
        </p:txBody>
      </p:sp>
      <p:sp>
        <p:nvSpPr>
          <p:cNvPr id="3" name="Slide Number Placeholder 2">
            <a:extLst>
              <a:ext uri="{FF2B5EF4-FFF2-40B4-BE49-F238E27FC236}">
                <a16:creationId xmlns:a16="http://schemas.microsoft.com/office/drawing/2014/main" id="{E1A94E46-D0C7-189A-8FE1-1EED9C529ED9}"/>
              </a:ext>
            </a:extLst>
          </p:cNvPr>
          <p:cNvSpPr>
            <a:spLocks noGrp="1"/>
          </p:cNvSpPr>
          <p:nvPr>
            <p:ph type="sldNum" sz="quarter" idx="12"/>
          </p:nvPr>
        </p:nvSpPr>
        <p:spPr/>
        <p:txBody>
          <a:bodyPr/>
          <a:lstStyle/>
          <a:p>
            <a:fld id="{CC057153-B650-4DEB-B370-79DDCFDCE934}" type="slidenum">
              <a:rPr lang="en-US" smtClean="0"/>
              <a:t>4</a:t>
            </a:fld>
            <a:endParaRPr lang="en-US" dirty="0"/>
          </a:p>
        </p:txBody>
      </p:sp>
      <p:sp>
        <p:nvSpPr>
          <p:cNvPr id="4" name="Content Placeholder 3">
            <a:extLst>
              <a:ext uri="{FF2B5EF4-FFF2-40B4-BE49-F238E27FC236}">
                <a16:creationId xmlns:a16="http://schemas.microsoft.com/office/drawing/2014/main" id="{A560548C-8BB5-9F6D-3B09-A80D227AFA96}"/>
              </a:ext>
            </a:extLst>
          </p:cNvPr>
          <p:cNvSpPr>
            <a:spLocks noGrp="1"/>
          </p:cNvSpPr>
          <p:nvPr>
            <p:ph idx="1"/>
          </p:nvPr>
        </p:nvSpPr>
        <p:spPr/>
        <p:txBody>
          <a:bodyPr/>
          <a:lstStyle/>
          <a:p>
            <a:r>
              <a:rPr lang="en-US" sz="1800" dirty="0">
                <a:latin typeface="Baskerville Old Face" panose="02020602080505020303" pitchFamily="18" charset="0"/>
              </a:rPr>
              <a:t>The synthetic stock dataset contains both numerical and categorical variables representing stock prices, trading volume, volatility, and financial indicators, designed to mimic real market behavior. The data is clean with no significant missing values, allowing reliable analysis. Univariate analysis shows moderate variability in price and volume, with some outliers in financial ratios. Categorical analysis indicates diversity across sectors and trend types, while bivariate analysis reveals a strong positive relationship among price variables and the influence of volatility on stock movements. Correlation analysis confirms high association between open, high, low, and close prices, with other variables showing moderate independence. Time series analysis demonstrates fluctuating trends over time, reflecting realistic market dynamics. Overall, the dataset captures meaningful financial patterns and is suitable for further statistical modeling and predictive analysis.</a:t>
            </a:r>
          </a:p>
          <a:p>
            <a:endParaRPr lang="en-IN" dirty="0"/>
          </a:p>
        </p:txBody>
      </p:sp>
      <p:sp>
        <p:nvSpPr>
          <p:cNvPr id="5" name="Title 4">
            <a:extLst>
              <a:ext uri="{FF2B5EF4-FFF2-40B4-BE49-F238E27FC236}">
                <a16:creationId xmlns:a16="http://schemas.microsoft.com/office/drawing/2014/main" id="{8E6E4870-27E4-3A9A-54D1-D85CE3A9C7DC}"/>
              </a:ext>
            </a:extLst>
          </p:cNvPr>
          <p:cNvSpPr>
            <a:spLocks noGrp="1"/>
          </p:cNvSpPr>
          <p:nvPr>
            <p:ph type="title"/>
          </p:nvPr>
        </p:nvSpPr>
        <p:spPr>
          <a:xfrm>
            <a:off x="182880" y="0"/>
            <a:ext cx="11442188" cy="844060"/>
          </a:xfrm>
        </p:spPr>
        <p:txBody>
          <a:bodyPr>
            <a:normAutofit/>
          </a:bodyPr>
          <a:lstStyle/>
          <a:p>
            <a:r>
              <a:rPr lang="en-US" dirty="0">
                <a:solidFill>
                  <a:schemeClr val="accent1">
                    <a:lumMod val="75000"/>
                  </a:schemeClr>
                </a:solidFill>
                <a:latin typeface="Baskerville Old Face" panose="02020602080505020303" pitchFamily="18" charset="0"/>
              </a:rPr>
              <a:t>Exploratory data analysis:-</a:t>
            </a:r>
            <a:endParaRPr lang="en-IN" dirty="0">
              <a:solidFill>
                <a:schemeClr val="accent1">
                  <a:lumMod val="75000"/>
                </a:schemeClr>
              </a:solidFill>
              <a:latin typeface="Baskerville Old Face" panose="02020602080505020303" pitchFamily="18" charset="0"/>
            </a:endParaRPr>
          </a:p>
        </p:txBody>
      </p:sp>
      <p:pic>
        <p:nvPicPr>
          <p:cNvPr id="15" name="Picture 14">
            <a:extLst>
              <a:ext uri="{FF2B5EF4-FFF2-40B4-BE49-F238E27FC236}">
                <a16:creationId xmlns:a16="http://schemas.microsoft.com/office/drawing/2014/main" id="{40892BB2-9727-5817-E7AA-2E9935A1FC3E}"/>
              </a:ext>
            </a:extLst>
          </p:cNvPr>
          <p:cNvPicPr>
            <a:picLocks noChangeAspect="1"/>
          </p:cNvPicPr>
          <p:nvPr/>
        </p:nvPicPr>
        <p:blipFill>
          <a:blip r:embed="rId2"/>
          <a:stretch>
            <a:fillRect/>
          </a:stretch>
        </p:blipFill>
        <p:spPr>
          <a:xfrm>
            <a:off x="417460" y="3429001"/>
            <a:ext cx="7015727" cy="3108282"/>
          </a:xfrm>
          <a:prstGeom prst="rect">
            <a:avLst/>
          </a:prstGeom>
        </p:spPr>
      </p:pic>
    </p:spTree>
    <p:extLst>
      <p:ext uri="{BB962C8B-B14F-4D97-AF65-F5344CB8AC3E}">
        <p14:creationId xmlns:p14="http://schemas.microsoft.com/office/powerpoint/2010/main" val="3806336885"/>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B824B-C2A9-FBCB-6E0A-9317C9FC2CC6}"/>
              </a:ext>
            </a:extLst>
          </p:cNvPr>
          <p:cNvSpPr>
            <a:spLocks noGrp="1"/>
          </p:cNvSpPr>
          <p:nvPr>
            <p:ph type="dt" sz="half" idx="10"/>
          </p:nvPr>
        </p:nvSpPr>
        <p:spPr/>
        <p:txBody>
          <a:bodyPr/>
          <a:lstStyle/>
          <a:p>
            <a:fld id="{B11C69CE-4771-4BFA-AD70-0E51ABA58D6D}" type="datetime1">
              <a:rPr lang="en-US" smtClean="0"/>
              <a:t>5/5/2026</a:t>
            </a:fld>
            <a:endParaRPr lang="en-US" dirty="0"/>
          </a:p>
        </p:txBody>
      </p:sp>
      <p:sp>
        <p:nvSpPr>
          <p:cNvPr id="3" name="Slide Number Placeholder 2">
            <a:extLst>
              <a:ext uri="{FF2B5EF4-FFF2-40B4-BE49-F238E27FC236}">
                <a16:creationId xmlns:a16="http://schemas.microsoft.com/office/drawing/2014/main" id="{955100AB-86AA-22FC-792B-03787C98951A}"/>
              </a:ext>
            </a:extLst>
          </p:cNvPr>
          <p:cNvSpPr>
            <a:spLocks noGrp="1"/>
          </p:cNvSpPr>
          <p:nvPr>
            <p:ph type="sldNum" sz="quarter" idx="12"/>
          </p:nvPr>
        </p:nvSpPr>
        <p:spPr/>
        <p:txBody>
          <a:bodyPr/>
          <a:lstStyle/>
          <a:p>
            <a:fld id="{CC057153-B650-4DEB-B370-79DDCFDCE934}" type="slidenum">
              <a:rPr lang="en-US" smtClean="0"/>
              <a:t>5</a:t>
            </a:fld>
            <a:endParaRPr lang="en-US" dirty="0"/>
          </a:p>
        </p:txBody>
      </p:sp>
      <p:pic>
        <p:nvPicPr>
          <p:cNvPr id="7" name="Content Placeholder 6">
            <a:extLst>
              <a:ext uri="{FF2B5EF4-FFF2-40B4-BE49-F238E27FC236}">
                <a16:creationId xmlns:a16="http://schemas.microsoft.com/office/drawing/2014/main" id="{DDBE0D8C-99EB-BEDB-521C-13F7FB3AD2CB}"/>
              </a:ext>
            </a:extLst>
          </p:cNvPr>
          <p:cNvPicPr>
            <a:picLocks noGrp="1" noChangeAspect="1"/>
          </p:cNvPicPr>
          <p:nvPr>
            <p:ph idx="1"/>
          </p:nvPr>
        </p:nvPicPr>
        <p:blipFill>
          <a:blip r:embed="rId2"/>
          <a:stretch>
            <a:fillRect/>
          </a:stretch>
        </p:blipFill>
        <p:spPr>
          <a:xfrm>
            <a:off x="1140541" y="122568"/>
            <a:ext cx="4227872" cy="3303972"/>
          </a:xfrm>
          <a:prstGeom prst="rect">
            <a:avLst/>
          </a:prstGeom>
        </p:spPr>
      </p:pic>
      <p:sp>
        <p:nvSpPr>
          <p:cNvPr id="5" name="Title 4">
            <a:extLst>
              <a:ext uri="{FF2B5EF4-FFF2-40B4-BE49-F238E27FC236}">
                <a16:creationId xmlns:a16="http://schemas.microsoft.com/office/drawing/2014/main" id="{CC7CB46E-E6BB-4E53-094D-86F4A3054A0D}"/>
              </a:ext>
            </a:extLst>
          </p:cNvPr>
          <p:cNvSpPr>
            <a:spLocks noGrp="1"/>
          </p:cNvSpPr>
          <p:nvPr>
            <p:ph type="title"/>
          </p:nvPr>
        </p:nvSpPr>
        <p:spPr/>
        <p:txBody>
          <a:bodyPr/>
          <a:lstStyle/>
          <a:p>
            <a:endParaRPr lang="en-IN"/>
          </a:p>
        </p:txBody>
      </p:sp>
      <p:pic>
        <p:nvPicPr>
          <p:cNvPr id="9" name="Picture 8">
            <a:extLst>
              <a:ext uri="{FF2B5EF4-FFF2-40B4-BE49-F238E27FC236}">
                <a16:creationId xmlns:a16="http://schemas.microsoft.com/office/drawing/2014/main" id="{63C3E6E8-401D-D38C-EFB4-760593C6594C}"/>
              </a:ext>
            </a:extLst>
          </p:cNvPr>
          <p:cNvPicPr>
            <a:picLocks noChangeAspect="1"/>
          </p:cNvPicPr>
          <p:nvPr/>
        </p:nvPicPr>
        <p:blipFill>
          <a:blip r:embed="rId3"/>
          <a:stretch>
            <a:fillRect/>
          </a:stretch>
        </p:blipFill>
        <p:spPr>
          <a:xfrm>
            <a:off x="5368413" y="122569"/>
            <a:ext cx="5985387" cy="3331475"/>
          </a:xfrm>
          <a:prstGeom prst="rect">
            <a:avLst/>
          </a:prstGeom>
        </p:spPr>
      </p:pic>
      <p:pic>
        <p:nvPicPr>
          <p:cNvPr id="11" name="Picture 10">
            <a:extLst>
              <a:ext uri="{FF2B5EF4-FFF2-40B4-BE49-F238E27FC236}">
                <a16:creationId xmlns:a16="http://schemas.microsoft.com/office/drawing/2014/main" id="{EBAE7E41-9253-0D55-8C94-98D81F6A8D95}"/>
              </a:ext>
            </a:extLst>
          </p:cNvPr>
          <p:cNvPicPr>
            <a:picLocks noChangeAspect="1"/>
          </p:cNvPicPr>
          <p:nvPr/>
        </p:nvPicPr>
        <p:blipFill>
          <a:blip r:embed="rId4"/>
          <a:stretch>
            <a:fillRect/>
          </a:stretch>
        </p:blipFill>
        <p:spPr>
          <a:xfrm>
            <a:off x="665586" y="3426540"/>
            <a:ext cx="5118318" cy="3308891"/>
          </a:xfrm>
          <a:prstGeom prst="rect">
            <a:avLst/>
          </a:prstGeom>
        </p:spPr>
      </p:pic>
      <p:pic>
        <p:nvPicPr>
          <p:cNvPr id="13" name="Picture 12">
            <a:extLst>
              <a:ext uri="{FF2B5EF4-FFF2-40B4-BE49-F238E27FC236}">
                <a16:creationId xmlns:a16="http://schemas.microsoft.com/office/drawing/2014/main" id="{052259E3-C3EC-2747-9FFC-67B61C541859}"/>
              </a:ext>
            </a:extLst>
          </p:cNvPr>
          <p:cNvPicPr>
            <a:picLocks noChangeAspect="1"/>
          </p:cNvPicPr>
          <p:nvPr/>
        </p:nvPicPr>
        <p:blipFill>
          <a:blip r:embed="rId5"/>
          <a:stretch>
            <a:fillRect/>
          </a:stretch>
        </p:blipFill>
        <p:spPr>
          <a:xfrm>
            <a:off x="5783904" y="3426540"/>
            <a:ext cx="5865053" cy="3306431"/>
          </a:xfrm>
          <a:prstGeom prst="rect">
            <a:avLst/>
          </a:prstGeom>
        </p:spPr>
      </p:pic>
    </p:spTree>
    <p:extLst>
      <p:ext uri="{BB962C8B-B14F-4D97-AF65-F5344CB8AC3E}">
        <p14:creationId xmlns:p14="http://schemas.microsoft.com/office/powerpoint/2010/main" val="2184354869"/>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9307CA-C07A-BC20-621C-67A14273F3F3}"/>
              </a:ext>
            </a:extLst>
          </p:cNvPr>
          <p:cNvSpPr>
            <a:spLocks noGrp="1"/>
          </p:cNvSpPr>
          <p:nvPr>
            <p:ph type="dt" sz="half" idx="10"/>
          </p:nvPr>
        </p:nvSpPr>
        <p:spPr/>
        <p:txBody>
          <a:bodyPr/>
          <a:lstStyle/>
          <a:p>
            <a:fld id="{B11C69CE-4771-4BFA-AD70-0E51ABA58D6D}" type="datetime1">
              <a:rPr lang="en-US" smtClean="0"/>
              <a:t>5/6/2026</a:t>
            </a:fld>
            <a:endParaRPr lang="en-US" dirty="0"/>
          </a:p>
        </p:txBody>
      </p:sp>
      <p:sp>
        <p:nvSpPr>
          <p:cNvPr id="3" name="Slide Number Placeholder 2">
            <a:extLst>
              <a:ext uri="{FF2B5EF4-FFF2-40B4-BE49-F238E27FC236}">
                <a16:creationId xmlns:a16="http://schemas.microsoft.com/office/drawing/2014/main" id="{C8C3081A-A55F-52B6-17EA-1B3BAE946E72}"/>
              </a:ext>
            </a:extLst>
          </p:cNvPr>
          <p:cNvSpPr>
            <a:spLocks noGrp="1"/>
          </p:cNvSpPr>
          <p:nvPr>
            <p:ph type="sldNum" sz="quarter" idx="12"/>
          </p:nvPr>
        </p:nvSpPr>
        <p:spPr/>
        <p:txBody>
          <a:bodyPr/>
          <a:lstStyle/>
          <a:p>
            <a:fld id="{CC057153-B650-4DEB-B370-79DDCFDCE934}" type="slidenum">
              <a:rPr lang="en-US" smtClean="0"/>
              <a:t>6</a:t>
            </a:fld>
            <a:endParaRPr lang="en-US" dirty="0"/>
          </a:p>
        </p:txBody>
      </p:sp>
      <p:sp>
        <p:nvSpPr>
          <p:cNvPr id="4" name="Content Placeholder 3">
            <a:extLst>
              <a:ext uri="{FF2B5EF4-FFF2-40B4-BE49-F238E27FC236}">
                <a16:creationId xmlns:a16="http://schemas.microsoft.com/office/drawing/2014/main" id="{17F4A681-559A-B57B-F216-43D3469E1860}"/>
              </a:ext>
            </a:extLst>
          </p:cNvPr>
          <p:cNvSpPr>
            <a:spLocks noGrp="1"/>
          </p:cNvSpPr>
          <p:nvPr>
            <p:ph idx="1"/>
          </p:nvPr>
        </p:nvSpPr>
        <p:spPr>
          <a:xfrm>
            <a:off x="182880" y="844061"/>
            <a:ext cx="11422799" cy="5646848"/>
          </a:xfrm>
        </p:spPr>
        <p:txBody>
          <a:bodyPr/>
          <a:lstStyle/>
          <a:p>
            <a:r>
              <a:rPr lang="en-US" sz="1400" b="1" dirty="0"/>
              <a:t>1. Data Overview:-</a:t>
            </a:r>
            <a:r>
              <a:rPr lang="en-US" sz="1400" dirty="0"/>
              <a:t>The dataset contains synthetic stock market data with variables such as price, volume, volatility, and financial indicators. Both numerical and categorical variables are present, making it suitable for statistical analysis and modeling. </a:t>
            </a:r>
          </a:p>
          <a:p>
            <a:r>
              <a:rPr lang="en-US" sz="1400" b="1" dirty="0"/>
              <a:t>2. Missing Value Analysis:-</a:t>
            </a:r>
            <a:r>
              <a:rPr lang="en-US" sz="1400" dirty="0"/>
              <a:t>No significant missing values were observed in the dataset. The dataset is clean and suitable for further analysis. </a:t>
            </a:r>
          </a:p>
          <a:p>
            <a:r>
              <a:rPr lang="en-US" sz="1400" b="1" dirty="0"/>
              <a:t>3. Univariate Analysis:-</a:t>
            </a:r>
            <a:r>
              <a:rPr lang="en-US" sz="1400" dirty="0"/>
              <a:t>The </a:t>
            </a:r>
            <a:r>
              <a:rPr lang="en-US" sz="1400" b="1" dirty="0"/>
              <a:t>closing price</a:t>
            </a:r>
            <a:r>
              <a:rPr lang="en-US" sz="1400" dirty="0"/>
              <a:t> shows a moderate spread, indicating variability in stock values. </a:t>
            </a:r>
            <a:r>
              <a:rPr lang="en-US" sz="1400" b="1" dirty="0"/>
              <a:t>Volume</a:t>
            </a:r>
            <a:r>
              <a:rPr lang="en-US" sz="1400" dirty="0"/>
              <a:t> distribution is slightly skewed, suggesting uneven trading activity. </a:t>
            </a:r>
            <a:r>
              <a:rPr lang="en-US" sz="1400" b="1" dirty="0"/>
              <a:t>Volatility</a:t>
            </a:r>
            <a:r>
              <a:rPr lang="en-US" sz="1400" dirty="0"/>
              <a:t> indicates fluctuations in stock prices over time. Some variables (like PE Ratio) show presence of </a:t>
            </a:r>
            <a:r>
              <a:rPr lang="en-US" sz="1400" b="1" dirty="0"/>
              <a:t>outliers</a:t>
            </a:r>
            <a:r>
              <a:rPr lang="en-US" sz="1400" dirty="0"/>
              <a:t>, indicating extreme values. </a:t>
            </a:r>
          </a:p>
          <a:p>
            <a:r>
              <a:rPr lang="en-US" sz="1400" b="1" dirty="0"/>
              <a:t>4. Categorical Analysis:-</a:t>
            </a:r>
            <a:r>
              <a:rPr lang="en-US" sz="1400" dirty="0"/>
              <a:t>The dataset includes multiple sectors and trend categories. Certain sectors have higher representation, indicating dominance in the dataset. Trend distribution shows variation among </a:t>
            </a:r>
            <a:r>
              <a:rPr lang="en-US" sz="1400" b="1" dirty="0"/>
              <a:t>uptrend, downtrend, and stable categories</a:t>
            </a:r>
            <a:r>
              <a:rPr lang="en-US" sz="1400" dirty="0"/>
              <a:t>. </a:t>
            </a:r>
          </a:p>
          <a:p>
            <a:r>
              <a:rPr lang="en-US" sz="1400" b="1" dirty="0"/>
              <a:t>5. Bivariate Analysis:-</a:t>
            </a:r>
            <a:r>
              <a:rPr lang="en-US" sz="1400" dirty="0"/>
              <a:t>A strong positive relationship is observed between </a:t>
            </a:r>
            <a:r>
              <a:rPr lang="en-US" sz="1400" b="1" dirty="0"/>
              <a:t>open and close prices</a:t>
            </a:r>
            <a:r>
              <a:rPr lang="en-US" sz="1400" dirty="0"/>
              <a:t>, indicating consistency in stock movement. </a:t>
            </a:r>
            <a:r>
              <a:rPr lang="en-US" sz="1400" b="1" dirty="0"/>
              <a:t>Volatility vs close price</a:t>
            </a:r>
            <a:r>
              <a:rPr lang="en-US" sz="1400" dirty="0"/>
              <a:t> shows that higher volatility is associated with larger price fluctuations. Boxplots indicate that stock prices vary across different </a:t>
            </a:r>
            <a:r>
              <a:rPr lang="en-US" sz="1400" b="1" dirty="0"/>
              <a:t>trend categories and sectors</a:t>
            </a:r>
            <a:r>
              <a:rPr lang="en-US" sz="1400" dirty="0"/>
              <a:t>. </a:t>
            </a:r>
          </a:p>
          <a:p>
            <a:r>
              <a:rPr lang="en-US" sz="1400" b="1" dirty="0"/>
              <a:t>6. Correlation Analysis:-</a:t>
            </a:r>
            <a:r>
              <a:rPr lang="en-US" sz="1400" dirty="0"/>
              <a:t>High correlation exists among </a:t>
            </a:r>
            <a:r>
              <a:rPr lang="en-US" sz="1400" b="1" dirty="0"/>
              <a:t>open, high, low, and close prices</a:t>
            </a:r>
            <a:r>
              <a:rPr lang="en-US" sz="1400" dirty="0"/>
              <a:t>, which is expected in stock data. Other variables show moderate to low correlation, indicating independent effects. No severe multicollinearity issues observed beyond price variables. </a:t>
            </a:r>
          </a:p>
          <a:p>
            <a:r>
              <a:rPr lang="en-US" sz="1400" b="1" dirty="0"/>
              <a:t> 7. Time Series Analysis:-</a:t>
            </a:r>
            <a:r>
              <a:rPr lang="en-US" sz="1400" dirty="0"/>
              <a:t>Stock prices exhibit </a:t>
            </a:r>
            <a:r>
              <a:rPr lang="en-US" sz="1400" b="1" dirty="0"/>
              <a:t>fluctuating trends over time</a:t>
            </a:r>
            <a:r>
              <a:rPr lang="en-US" sz="1400" dirty="0"/>
              <a:t>, reflecting realistic market behavior. Periods of increase and decrease indicate dynamic movement in synthetic data. </a:t>
            </a:r>
          </a:p>
          <a:p>
            <a:br>
              <a:rPr lang="en-US" sz="1800" dirty="0"/>
            </a:br>
            <a:r>
              <a:rPr lang="en-US" sz="1400" b="1" dirty="0"/>
              <a:t>8. Key Insights :-</a:t>
            </a:r>
          </a:p>
          <a:p>
            <a:pPr marL="171450" indent="-171450">
              <a:buFont typeface="Wingdings" panose="05000000000000000000" pitchFamily="2" charset="2"/>
              <a:buChar char="q"/>
            </a:pPr>
            <a:r>
              <a:rPr lang="en-US" sz="1400" dirty="0"/>
              <a:t>Price variables are highly interrelated. </a:t>
            </a:r>
          </a:p>
          <a:p>
            <a:pPr marL="171450" indent="-171450">
              <a:buFont typeface="Wingdings" panose="05000000000000000000" pitchFamily="2" charset="2"/>
              <a:buChar char="q"/>
            </a:pPr>
            <a:r>
              <a:rPr lang="en-US" sz="1400" dirty="0"/>
              <a:t>Volatility plays a significant role in price movement. </a:t>
            </a:r>
          </a:p>
          <a:p>
            <a:pPr marL="171450" indent="-171450">
              <a:buFont typeface="Wingdings" panose="05000000000000000000" pitchFamily="2" charset="2"/>
              <a:buChar char="q"/>
            </a:pPr>
            <a:r>
              <a:rPr lang="en-US" sz="1400" dirty="0"/>
              <a:t>Sector and trend categories influence stock behavior. </a:t>
            </a:r>
          </a:p>
          <a:p>
            <a:pPr marL="171450" indent="-171450">
              <a:buFont typeface="Wingdings" panose="05000000000000000000" pitchFamily="2" charset="2"/>
              <a:buChar char="q"/>
            </a:pPr>
            <a:r>
              <a:rPr lang="en-US" sz="1400" dirty="0"/>
              <a:t>The dataset successfully mimics real-world financial patterns.</a:t>
            </a:r>
          </a:p>
          <a:p>
            <a:endParaRPr lang="en-IN" sz="1200" dirty="0">
              <a:latin typeface="Baskerville Old Face" panose="02020602080505020303" pitchFamily="18" charset="0"/>
            </a:endParaRPr>
          </a:p>
        </p:txBody>
      </p:sp>
      <p:sp>
        <p:nvSpPr>
          <p:cNvPr id="6" name="TextBox 5">
            <a:extLst>
              <a:ext uri="{FF2B5EF4-FFF2-40B4-BE49-F238E27FC236}">
                <a16:creationId xmlns:a16="http://schemas.microsoft.com/office/drawing/2014/main" id="{FBFB1BD9-8459-FEC1-3482-AA6A7D1FB20B}"/>
              </a:ext>
            </a:extLst>
          </p:cNvPr>
          <p:cNvSpPr txBox="1"/>
          <p:nvPr/>
        </p:nvSpPr>
        <p:spPr>
          <a:xfrm>
            <a:off x="629265" y="226142"/>
            <a:ext cx="7767483" cy="523220"/>
          </a:xfrm>
          <a:prstGeom prst="rect">
            <a:avLst/>
          </a:prstGeom>
          <a:noFill/>
        </p:spPr>
        <p:txBody>
          <a:bodyPr wrap="square" rtlCol="0">
            <a:spAutoFit/>
          </a:bodyPr>
          <a:lstStyle/>
          <a:p>
            <a:r>
              <a:rPr lang="en-US" sz="2800" u="sng" dirty="0">
                <a:solidFill>
                  <a:schemeClr val="accent1">
                    <a:lumMod val="75000"/>
                  </a:schemeClr>
                </a:solidFill>
                <a:latin typeface="Algerian" panose="04020705040A02060702" pitchFamily="82" charset="0"/>
              </a:rPr>
              <a:t>EXPLORATORY DATA ANALYSIS RESULTS:</a:t>
            </a:r>
            <a:endParaRPr lang="en-IN" sz="2800" u="sng" dirty="0">
              <a:solidFill>
                <a:schemeClr val="accent1">
                  <a:lumMod val="75000"/>
                </a:schemeClr>
              </a:solidFill>
              <a:latin typeface="Algerian" panose="04020705040A02060702" pitchFamily="82" charset="0"/>
            </a:endParaRPr>
          </a:p>
        </p:txBody>
      </p:sp>
    </p:spTree>
    <p:extLst>
      <p:ext uri="{BB962C8B-B14F-4D97-AF65-F5344CB8AC3E}">
        <p14:creationId xmlns:p14="http://schemas.microsoft.com/office/powerpoint/2010/main" val="15246000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BE1B3-474F-D110-BAD7-4D78EBC838CB}"/>
              </a:ext>
            </a:extLst>
          </p:cNvPr>
          <p:cNvSpPr>
            <a:spLocks noGrp="1"/>
          </p:cNvSpPr>
          <p:nvPr>
            <p:ph type="title"/>
          </p:nvPr>
        </p:nvSpPr>
        <p:spPr>
          <a:xfrm>
            <a:off x="548647" y="98323"/>
            <a:ext cx="3871623" cy="1661652"/>
          </a:xfrm>
        </p:spPr>
        <p:txBody>
          <a:bodyPr>
            <a:normAutofit fontScale="90000"/>
          </a:bodyPr>
          <a:lstStyle/>
          <a:p>
            <a:r>
              <a:rPr lang="en-US" sz="2400" u="sng" dirty="0">
                <a:solidFill>
                  <a:schemeClr val="accent1">
                    <a:lumMod val="75000"/>
                  </a:schemeClr>
                </a:solidFill>
                <a:latin typeface="Bookman Old Style" panose="02050604050505020204" pitchFamily="18" charset="0"/>
              </a:rPr>
              <a:t>Regression Model Results and Performance Analysis:</a:t>
            </a:r>
            <a:endParaRPr lang="en-US" sz="6600" b="0" u="sng" dirty="0">
              <a:solidFill>
                <a:schemeClr val="accent1">
                  <a:lumMod val="75000"/>
                </a:schemeClr>
              </a:solidFill>
              <a:latin typeface="Bookman Old Style" panose="02050604050505020204" pitchFamily="18" charset="0"/>
            </a:endParaRPr>
          </a:p>
        </p:txBody>
      </p:sp>
      <p:sp>
        <p:nvSpPr>
          <p:cNvPr id="4" name="Content Placeholder 3">
            <a:extLst>
              <a:ext uri="{FF2B5EF4-FFF2-40B4-BE49-F238E27FC236}">
                <a16:creationId xmlns:a16="http://schemas.microsoft.com/office/drawing/2014/main" id="{3E9A9125-83DF-A70A-A024-4E849963BA49}"/>
              </a:ext>
            </a:extLst>
          </p:cNvPr>
          <p:cNvSpPr>
            <a:spLocks noGrp="1"/>
          </p:cNvSpPr>
          <p:nvPr>
            <p:ph sz="quarter" idx="14"/>
          </p:nvPr>
        </p:nvSpPr>
        <p:spPr>
          <a:xfrm>
            <a:off x="4968917" y="640077"/>
            <a:ext cx="6249382" cy="6217922"/>
          </a:xfrm>
        </p:spPr>
        <p:txBody>
          <a:bodyPr/>
          <a:lstStyle/>
          <a:p>
            <a:r>
              <a:rPr lang="en-US" sz="1200" dirty="0"/>
              <a:t>A Multiple Linear Regression model was developed to predict closing stock prices using variables such as volume, PE ratio, dividend yield, volatility, and sentiment score. The dataset was split into training (70%) and testing (30%) sets to evaluate model performance. The model captures the relationship between stock price and multiple predictors simultaneously. Performance was assessed using Mean Squared Error (MSE), which indicates prediction accuracy. Additionally, Variance Inflation Factor (VIF) was used to check for multicollinearity, confirming that the predictors do not exhibit strong interdependence.</a:t>
            </a:r>
          </a:p>
          <a:p>
            <a:r>
              <a:rPr lang="en-US" sz="1200" dirty="0"/>
              <a:t>The multiple linear regression model was developed to predict closing stock prices using variables such as volume, PE ratio, dividend yield, volatility, and sentiment score; however, the results indicate weak performance. None of the predictors are statistically significant (p &gt; 0.05), and the overall model is also not significant (F-test p-value = 0.3616), suggesting that these variables do not adequately explain the variation in stock prices. The R-squared value is extremely low (≈ 0.0078), meaning the model explains less than 1% of the variability, and the negative test R-squared further indicates poor predictive performance on new data. Although VIF values are close to 1, confirming no multicollinearity issues, the residual diagnostics show slight deviation from normality and some heteroscedasticity, indicating that model assumptions are only partially satisfied. Overall, the model fails to capture meaningful relationships, which may be due to missing important predictors, weak linear relationships, or the presence of non-linear patterns in the data. To improve the model, additional relevant variables can be included, transformations or interaction terms may be considered, and more advanced techniques such as polynomial regression or machine learning models can be applied to better capture complex stock price behavior.</a:t>
            </a:r>
          </a:p>
          <a:p>
            <a:pPr marL="171450" indent="-171450">
              <a:buFont typeface="Wingdings" panose="05000000000000000000" pitchFamily="2" charset="2"/>
              <a:buChar char="q"/>
            </a:pPr>
            <a:r>
              <a:rPr lang="en-US" sz="1100" dirty="0"/>
              <a:t>Very low R² (~0.0078) → almost no explanatory power </a:t>
            </a:r>
          </a:p>
          <a:p>
            <a:pPr marL="171450" indent="-171450">
              <a:buFont typeface="Wingdings" panose="05000000000000000000" pitchFamily="2" charset="2"/>
              <a:buChar char="q"/>
            </a:pPr>
            <a:r>
              <a:rPr lang="en-US" sz="1100" dirty="0"/>
              <a:t>No significant predictors (p &gt; 0.05) </a:t>
            </a:r>
          </a:p>
          <a:p>
            <a:pPr marL="171450" indent="-171450">
              <a:buFont typeface="Wingdings" panose="05000000000000000000" pitchFamily="2" charset="2"/>
              <a:buChar char="q"/>
            </a:pPr>
            <a:r>
              <a:rPr lang="en-US" sz="1100" dirty="0"/>
              <a:t>Model not significant (F-test p &gt; 0.05) </a:t>
            </a:r>
          </a:p>
          <a:p>
            <a:pPr marL="171450" indent="-171450">
              <a:buFont typeface="Wingdings" panose="05000000000000000000" pitchFamily="2" charset="2"/>
              <a:buChar char="q"/>
            </a:pPr>
            <a:r>
              <a:rPr lang="en-US" sz="1100" dirty="0"/>
              <a:t>High prediction error (RMSE ≈ 11.26) </a:t>
            </a:r>
          </a:p>
          <a:p>
            <a:pPr marL="171450" indent="-171450">
              <a:buFont typeface="Wingdings" panose="05000000000000000000" pitchFamily="2" charset="2"/>
              <a:buChar char="q"/>
            </a:pPr>
            <a:r>
              <a:rPr lang="en-US" sz="1100" dirty="0"/>
              <a:t>Poor performance on test data (negative R²) </a:t>
            </a:r>
          </a:p>
          <a:p>
            <a:pPr marL="171450" indent="-171450">
              <a:buFont typeface="Wingdings" panose="05000000000000000000" pitchFamily="2" charset="2"/>
              <a:buChar char="q"/>
            </a:pPr>
            <a:endParaRPr lang="en-US" sz="1200" dirty="0"/>
          </a:p>
          <a:p>
            <a:endParaRPr lang="en-US" sz="1800" dirty="0"/>
          </a:p>
        </p:txBody>
      </p:sp>
      <p:sp>
        <p:nvSpPr>
          <p:cNvPr id="5" name="Date Placeholder 4">
            <a:extLst>
              <a:ext uri="{FF2B5EF4-FFF2-40B4-BE49-F238E27FC236}">
                <a16:creationId xmlns:a16="http://schemas.microsoft.com/office/drawing/2014/main" id="{216007FB-6075-C704-F7E5-4F6DD2FD9A7D}"/>
              </a:ext>
            </a:extLst>
          </p:cNvPr>
          <p:cNvSpPr>
            <a:spLocks noGrp="1"/>
          </p:cNvSpPr>
          <p:nvPr>
            <p:ph type="dt" sz="half" idx="10"/>
          </p:nvPr>
        </p:nvSpPr>
        <p:spPr/>
        <p:txBody>
          <a:bodyPr/>
          <a:lstStyle/>
          <a:p>
            <a:fld id="{D73859A7-84EB-4384-87AF-59CC16704CF8}" type="datetime1">
              <a:rPr lang="en-US" smtClean="0"/>
              <a:t>5/5/2026</a:t>
            </a:fld>
            <a:endParaRPr lang="en-US" dirty="0"/>
          </a:p>
        </p:txBody>
      </p:sp>
      <p:sp>
        <p:nvSpPr>
          <p:cNvPr id="6" name="Slide Number Placeholder 5">
            <a:extLst>
              <a:ext uri="{FF2B5EF4-FFF2-40B4-BE49-F238E27FC236}">
                <a16:creationId xmlns:a16="http://schemas.microsoft.com/office/drawing/2014/main" id="{ACA7501D-D6CD-29A2-36D5-7BCAF9A10C91}"/>
              </a:ext>
            </a:extLst>
          </p:cNvPr>
          <p:cNvSpPr>
            <a:spLocks noGrp="1"/>
          </p:cNvSpPr>
          <p:nvPr>
            <p:ph type="sldNum" sz="quarter" idx="12"/>
          </p:nvPr>
        </p:nvSpPr>
        <p:spPr/>
        <p:txBody>
          <a:bodyPr/>
          <a:lstStyle/>
          <a:p>
            <a:fld id="{CC057153-B650-4DEB-B370-79DDCFDCE934}" type="slidenum">
              <a:rPr lang="en-US" smtClean="0"/>
              <a:t>7</a:t>
            </a:fld>
            <a:endParaRPr lang="en-US" dirty="0"/>
          </a:p>
        </p:txBody>
      </p:sp>
      <p:pic>
        <p:nvPicPr>
          <p:cNvPr id="14" name="Picture 13">
            <a:extLst>
              <a:ext uri="{FF2B5EF4-FFF2-40B4-BE49-F238E27FC236}">
                <a16:creationId xmlns:a16="http://schemas.microsoft.com/office/drawing/2014/main" id="{E9B75FC3-910E-54A9-D072-BEDF1FDD57B2}"/>
              </a:ext>
            </a:extLst>
          </p:cNvPr>
          <p:cNvPicPr>
            <a:picLocks noChangeAspect="1"/>
          </p:cNvPicPr>
          <p:nvPr/>
        </p:nvPicPr>
        <p:blipFill>
          <a:blip r:embed="rId2"/>
          <a:stretch>
            <a:fillRect/>
          </a:stretch>
        </p:blipFill>
        <p:spPr>
          <a:xfrm>
            <a:off x="207418" y="1759975"/>
            <a:ext cx="3981123" cy="2310580"/>
          </a:xfrm>
          <a:prstGeom prst="rect">
            <a:avLst/>
          </a:prstGeom>
        </p:spPr>
      </p:pic>
      <p:pic>
        <p:nvPicPr>
          <p:cNvPr id="16" name="Picture 15">
            <a:extLst>
              <a:ext uri="{FF2B5EF4-FFF2-40B4-BE49-F238E27FC236}">
                <a16:creationId xmlns:a16="http://schemas.microsoft.com/office/drawing/2014/main" id="{0C01D8EB-9921-7C80-CE54-D8F5533AD751}"/>
              </a:ext>
            </a:extLst>
          </p:cNvPr>
          <p:cNvPicPr>
            <a:picLocks noChangeAspect="1"/>
          </p:cNvPicPr>
          <p:nvPr/>
        </p:nvPicPr>
        <p:blipFill>
          <a:blip r:embed="rId3"/>
          <a:stretch>
            <a:fillRect/>
          </a:stretch>
        </p:blipFill>
        <p:spPr>
          <a:xfrm>
            <a:off x="207418" y="4070554"/>
            <a:ext cx="3981123" cy="2310580"/>
          </a:xfrm>
          <a:prstGeom prst="rect">
            <a:avLst/>
          </a:prstGeom>
        </p:spPr>
      </p:pic>
    </p:spTree>
    <p:extLst>
      <p:ext uri="{BB962C8B-B14F-4D97-AF65-F5344CB8AC3E}">
        <p14:creationId xmlns:p14="http://schemas.microsoft.com/office/powerpoint/2010/main" val="20593907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E43DEA-E038-54AA-7985-A82143E9FBF3}"/>
              </a:ext>
            </a:extLst>
          </p:cNvPr>
          <p:cNvSpPr>
            <a:spLocks noGrp="1"/>
          </p:cNvSpPr>
          <p:nvPr>
            <p:ph type="dt" sz="half" idx="10"/>
          </p:nvPr>
        </p:nvSpPr>
        <p:spPr/>
        <p:txBody>
          <a:bodyPr/>
          <a:lstStyle/>
          <a:p>
            <a:fld id="{EEE6A364-A39C-470E-B89A-9BD899585684}" type="datetime1">
              <a:rPr lang="en-US" smtClean="0"/>
              <a:t>5/6/2026</a:t>
            </a:fld>
            <a:endParaRPr lang="en-US" dirty="0"/>
          </a:p>
        </p:txBody>
      </p:sp>
      <p:sp>
        <p:nvSpPr>
          <p:cNvPr id="3" name="Slide Number Placeholder 2">
            <a:extLst>
              <a:ext uri="{FF2B5EF4-FFF2-40B4-BE49-F238E27FC236}">
                <a16:creationId xmlns:a16="http://schemas.microsoft.com/office/drawing/2014/main" id="{9EC1BA4E-7DF8-DAAC-50B9-CFD4AD922FBE}"/>
              </a:ext>
            </a:extLst>
          </p:cNvPr>
          <p:cNvSpPr>
            <a:spLocks noGrp="1"/>
          </p:cNvSpPr>
          <p:nvPr>
            <p:ph type="sldNum" sz="quarter" idx="12"/>
          </p:nvPr>
        </p:nvSpPr>
        <p:spPr/>
        <p:txBody>
          <a:bodyPr/>
          <a:lstStyle/>
          <a:p>
            <a:fld id="{CC057153-B650-4DEB-B370-79DDCFDCE934}" type="slidenum">
              <a:rPr lang="en-US" smtClean="0"/>
              <a:t>8</a:t>
            </a:fld>
            <a:endParaRPr lang="en-US" dirty="0"/>
          </a:p>
        </p:txBody>
      </p:sp>
      <p:sp>
        <p:nvSpPr>
          <p:cNvPr id="4" name="Content Placeholder 3">
            <a:extLst>
              <a:ext uri="{FF2B5EF4-FFF2-40B4-BE49-F238E27FC236}">
                <a16:creationId xmlns:a16="http://schemas.microsoft.com/office/drawing/2014/main" id="{CDE7EF66-E7FD-31DE-5E77-ECDB8EE83D4F}"/>
              </a:ext>
            </a:extLst>
          </p:cNvPr>
          <p:cNvSpPr>
            <a:spLocks noGrp="1"/>
          </p:cNvSpPr>
          <p:nvPr>
            <p:ph idx="1"/>
          </p:nvPr>
        </p:nvSpPr>
        <p:spPr>
          <a:xfrm>
            <a:off x="182880" y="1229032"/>
            <a:ext cx="11442188" cy="5388245"/>
          </a:xfrm>
        </p:spPr>
        <p:txBody>
          <a:bodyPr/>
          <a:lstStyle/>
          <a:p>
            <a:r>
              <a:rPr lang="en-US" sz="1800" dirty="0"/>
              <a:t>The Actual vs Predicted plot for the multiple linear regression model shows a weak relationship between the predicted and actual closing prices. Ideally, the points should lie close to the diagonal reference line, indicating accurate predictions; however, the scatter plot shows a wide dispersion of points away from the line. This suggests that the model is unable to accurately capture the underlying relationship between the predictors and the closing price. The predictions appear clustered within a narrow range, while the actual values vary more widely, indicating underfitting. Overall, the plot confirms that the multiple linear regression model has poor predictive performance and fails to generalize well.</a:t>
            </a:r>
            <a:br>
              <a:rPr lang="en-US" sz="1800" dirty="0"/>
            </a:br>
            <a:endParaRPr lang="en-US" sz="1800" dirty="0"/>
          </a:p>
          <a:p>
            <a:pPr marL="285750" indent="-285750">
              <a:buFont typeface="Wingdings" panose="05000000000000000000" pitchFamily="2" charset="2"/>
              <a:buChar char="q"/>
            </a:pPr>
            <a:r>
              <a:rPr lang="en-US" sz="1800" dirty="0"/>
              <a:t>Points not aligned along diagonal → poor fit </a:t>
            </a:r>
          </a:p>
          <a:p>
            <a:pPr marL="285750" indent="-285750">
              <a:buFont typeface="Wingdings" panose="05000000000000000000" pitchFamily="2" charset="2"/>
              <a:buChar char="q"/>
            </a:pPr>
            <a:r>
              <a:rPr lang="en-US" sz="1800" dirty="0"/>
              <a:t>High dispersion → large prediction errors </a:t>
            </a:r>
          </a:p>
          <a:p>
            <a:pPr marL="285750" indent="-285750">
              <a:buFont typeface="Wingdings" panose="05000000000000000000" pitchFamily="2" charset="2"/>
              <a:buChar char="q"/>
            </a:pPr>
            <a:r>
              <a:rPr lang="en-US" sz="1800" dirty="0"/>
              <a:t>Predictions show limited variation </a:t>
            </a:r>
          </a:p>
          <a:p>
            <a:pPr marL="285750" indent="-285750">
              <a:buFont typeface="Wingdings" panose="05000000000000000000" pitchFamily="2" charset="2"/>
              <a:buChar char="q"/>
            </a:pPr>
            <a:r>
              <a:rPr lang="en-US" sz="1800" dirty="0"/>
              <a:t>Evidence of </a:t>
            </a:r>
            <a:r>
              <a:rPr lang="en-US" sz="1800" b="1" dirty="0"/>
              <a:t>underfitting</a:t>
            </a:r>
            <a:r>
              <a:rPr lang="en-US" sz="1800" dirty="0"/>
              <a:t> </a:t>
            </a:r>
          </a:p>
          <a:p>
            <a:br>
              <a:rPr lang="en-US" sz="1800" dirty="0"/>
            </a:br>
            <a:endParaRPr lang="en-US" sz="1800" dirty="0"/>
          </a:p>
          <a:p>
            <a:endParaRPr lang="en-IN" sz="1800" dirty="0"/>
          </a:p>
        </p:txBody>
      </p:sp>
      <p:sp>
        <p:nvSpPr>
          <p:cNvPr id="5" name="Title 4">
            <a:extLst>
              <a:ext uri="{FF2B5EF4-FFF2-40B4-BE49-F238E27FC236}">
                <a16:creationId xmlns:a16="http://schemas.microsoft.com/office/drawing/2014/main" id="{258A2B7C-286C-8770-069F-D8250C3F9070}"/>
              </a:ext>
            </a:extLst>
          </p:cNvPr>
          <p:cNvSpPr>
            <a:spLocks noGrp="1"/>
          </p:cNvSpPr>
          <p:nvPr>
            <p:ph type="title"/>
          </p:nvPr>
        </p:nvSpPr>
        <p:spPr>
          <a:xfrm>
            <a:off x="182880" y="501445"/>
            <a:ext cx="11442188" cy="727587"/>
          </a:xfrm>
        </p:spPr>
        <p:txBody>
          <a:bodyPr>
            <a:normAutofit fontScale="90000"/>
          </a:bodyPr>
          <a:lstStyle/>
          <a:p>
            <a:r>
              <a:rPr lang="en-US" sz="2700" u="sng" dirty="0">
                <a:solidFill>
                  <a:schemeClr val="accent1">
                    <a:lumMod val="75000"/>
                  </a:schemeClr>
                </a:solidFill>
                <a:latin typeface="Baskerville Old Face" panose="02020602080505020303" pitchFamily="18" charset="0"/>
              </a:rPr>
              <a:t>Actual vs Predicted Plot – Multiple Linear Regression:</a:t>
            </a:r>
            <a:br>
              <a:rPr lang="en-US" dirty="0"/>
            </a:br>
            <a:endParaRPr lang="en-IN" dirty="0"/>
          </a:p>
        </p:txBody>
      </p:sp>
    </p:spTree>
    <p:extLst>
      <p:ext uri="{BB962C8B-B14F-4D97-AF65-F5344CB8AC3E}">
        <p14:creationId xmlns:p14="http://schemas.microsoft.com/office/powerpoint/2010/main" val="730025703"/>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D5C9BB5-ABB0-7585-8636-CFD300406B08}"/>
              </a:ext>
            </a:extLst>
          </p:cNvPr>
          <p:cNvSpPr>
            <a:spLocks noGrp="1"/>
          </p:cNvSpPr>
          <p:nvPr>
            <p:ph type="dt" sz="half" idx="15"/>
          </p:nvPr>
        </p:nvSpPr>
        <p:spPr/>
        <p:txBody>
          <a:bodyPr/>
          <a:lstStyle/>
          <a:p>
            <a:fld id="{9C4109C0-CC82-467C-B6E8-62D4D3634E2A}" type="datetime1">
              <a:rPr lang="en-US" smtClean="0"/>
              <a:t>5/6/2026</a:t>
            </a:fld>
            <a:endParaRPr lang="en-US" dirty="0"/>
          </a:p>
        </p:txBody>
      </p:sp>
      <p:sp>
        <p:nvSpPr>
          <p:cNvPr id="4" name="Slide Number Placeholder 3">
            <a:extLst>
              <a:ext uri="{FF2B5EF4-FFF2-40B4-BE49-F238E27FC236}">
                <a16:creationId xmlns:a16="http://schemas.microsoft.com/office/drawing/2014/main" id="{9B070FE8-9ED0-FDDE-FD9E-1436AF0238CB}"/>
              </a:ext>
            </a:extLst>
          </p:cNvPr>
          <p:cNvSpPr>
            <a:spLocks noGrp="1"/>
          </p:cNvSpPr>
          <p:nvPr>
            <p:ph type="sldNum" sz="quarter" idx="17"/>
          </p:nvPr>
        </p:nvSpPr>
        <p:spPr/>
        <p:txBody>
          <a:bodyPr/>
          <a:lstStyle/>
          <a:p>
            <a:fld id="{CC057153-B650-4DEB-B370-79DDCFDCE934}" type="slidenum">
              <a:rPr lang="en-US" smtClean="0"/>
              <a:t>9</a:t>
            </a:fld>
            <a:endParaRPr lang="en-US" dirty="0"/>
          </a:p>
        </p:txBody>
      </p:sp>
      <p:sp>
        <p:nvSpPr>
          <p:cNvPr id="5" name="Content Placeholder 4">
            <a:extLst>
              <a:ext uri="{FF2B5EF4-FFF2-40B4-BE49-F238E27FC236}">
                <a16:creationId xmlns:a16="http://schemas.microsoft.com/office/drawing/2014/main" id="{FCA33EAC-DCEC-1CDD-F8F4-51046374E45E}"/>
              </a:ext>
            </a:extLst>
          </p:cNvPr>
          <p:cNvSpPr>
            <a:spLocks noGrp="1"/>
          </p:cNvSpPr>
          <p:nvPr>
            <p:ph sz="quarter" idx="14"/>
          </p:nvPr>
        </p:nvSpPr>
        <p:spPr>
          <a:xfrm>
            <a:off x="548647" y="1435510"/>
            <a:ext cx="6282871" cy="4781055"/>
          </a:xfrm>
        </p:spPr>
        <p:txBody>
          <a:bodyPr/>
          <a:lstStyle/>
          <a:p>
            <a:r>
              <a:rPr lang="en-US" sz="1400" dirty="0"/>
              <a:t>The Best Subset Selection method was applied to identify the most relevant predictors for modeling the closing stock price by evaluating different combinations of variables using criteria such as Adjusted R², BIC, and Cp. The optimal model selected by BIC includes only two variables, namely </a:t>
            </a:r>
            <a:r>
              <a:rPr lang="en-US" sz="1400" i="1" dirty="0"/>
              <a:t>High</a:t>
            </a:r>
            <a:r>
              <a:rPr lang="en-US" sz="1400" dirty="0"/>
              <a:t> and </a:t>
            </a:r>
            <a:r>
              <a:rPr lang="en-US" sz="1400" i="1" dirty="0"/>
              <a:t>Low</a:t>
            </a:r>
            <a:r>
              <a:rPr lang="en-US" sz="1400" dirty="0"/>
              <a:t>, indicating that these are the most influential predictors of the closing price. The model demonstrates excellent performance, with a very high R-squared value (≈ 0.998), suggesting that it explains almost all the variability in the data. Additionally, the prediction errors are extremely low (RMSE ≈ 0.47 and MAE ≈ 0.38), indicating high accuracy. This result shows that a simpler model with fewer but highly relevant variables can significantly outperform more complex models, especially when strong relationships exist among variables. Best model is subset selection(or tied with lasso).</a:t>
            </a:r>
          </a:p>
          <a:p>
            <a:pPr marL="285750" indent="-285750">
              <a:buFont typeface="Wingdings" panose="05000000000000000000" pitchFamily="2" charset="2"/>
              <a:buChar char="q"/>
            </a:pPr>
            <a:r>
              <a:rPr lang="en-US" sz="1400" dirty="0"/>
              <a:t>Best model selected using BIC (2 variables)</a:t>
            </a:r>
          </a:p>
          <a:p>
            <a:pPr marL="285750" indent="-285750">
              <a:buFont typeface="Wingdings" panose="05000000000000000000" pitchFamily="2" charset="2"/>
              <a:buChar char="q"/>
            </a:pPr>
            <a:r>
              <a:rPr lang="en-US" sz="1400" dirty="0"/>
              <a:t> Important predictors: </a:t>
            </a:r>
            <a:r>
              <a:rPr lang="en-US" sz="1400" b="1" dirty="0"/>
              <a:t>High, Low</a:t>
            </a:r>
          </a:p>
          <a:p>
            <a:pPr marL="285750" indent="-285750">
              <a:buFont typeface="Wingdings" panose="05000000000000000000" pitchFamily="2" charset="2"/>
              <a:buChar char="q"/>
            </a:pPr>
            <a:r>
              <a:rPr lang="en-US" sz="1400" dirty="0"/>
              <a:t> Extremely high R² (~0.998) </a:t>
            </a:r>
          </a:p>
          <a:p>
            <a:pPr marL="285750" indent="-285750">
              <a:buFont typeface="Wingdings" panose="05000000000000000000" pitchFamily="2" charset="2"/>
              <a:buChar char="q"/>
            </a:pPr>
            <a:r>
              <a:rPr lang="en-US" sz="1400" dirty="0"/>
              <a:t>Very low prediction error (RMSE ≈ 0.47) </a:t>
            </a:r>
          </a:p>
          <a:p>
            <a:pPr marL="285750" indent="-285750">
              <a:buFont typeface="Wingdings" panose="05000000000000000000" pitchFamily="2" charset="2"/>
              <a:buChar char="q"/>
            </a:pPr>
            <a:r>
              <a:rPr lang="en-US" sz="1400" dirty="0"/>
              <a:t>Simple, highly accurate and strong model</a:t>
            </a:r>
            <a:endParaRPr lang="en-IN" sz="1400" dirty="0"/>
          </a:p>
        </p:txBody>
      </p:sp>
      <p:sp>
        <p:nvSpPr>
          <p:cNvPr id="6" name="Title 5">
            <a:extLst>
              <a:ext uri="{FF2B5EF4-FFF2-40B4-BE49-F238E27FC236}">
                <a16:creationId xmlns:a16="http://schemas.microsoft.com/office/drawing/2014/main" id="{192CA35C-8615-2519-F7D3-F15DA5D64548}"/>
              </a:ext>
            </a:extLst>
          </p:cNvPr>
          <p:cNvSpPr>
            <a:spLocks noGrp="1"/>
          </p:cNvSpPr>
          <p:nvPr>
            <p:ph type="title"/>
          </p:nvPr>
        </p:nvSpPr>
        <p:spPr>
          <a:xfrm>
            <a:off x="548521" y="147484"/>
            <a:ext cx="6282871" cy="1120877"/>
          </a:xfrm>
        </p:spPr>
        <p:txBody>
          <a:bodyPr/>
          <a:lstStyle/>
          <a:p>
            <a:r>
              <a:rPr lang="en-US" sz="2800" u="sng" dirty="0">
                <a:solidFill>
                  <a:schemeClr val="accent1">
                    <a:lumMod val="75000"/>
                  </a:schemeClr>
                </a:solidFill>
                <a:latin typeface="Bookman Old Style" panose="02050604050505020204" pitchFamily="18" charset="0"/>
              </a:rPr>
              <a:t>Best Subset Selection Results and Interpretation:</a:t>
            </a:r>
            <a:endParaRPr lang="en-IN" sz="2800" u="sng" dirty="0">
              <a:solidFill>
                <a:schemeClr val="accent1">
                  <a:lumMod val="75000"/>
                </a:schemeClr>
              </a:solidFill>
              <a:latin typeface="Bookman Old Style" panose="02050604050505020204" pitchFamily="18" charset="0"/>
            </a:endParaRPr>
          </a:p>
        </p:txBody>
      </p:sp>
      <p:sp>
        <p:nvSpPr>
          <p:cNvPr id="10" name="Picture Placeholder 9">
            <a:extLst>
              <a:ext uri="{FF2B5EF4-FFF2-40B4-BE49-F238E27FC236}">
                <a16:creationId xmlns:a16="http://schemas.microsoft.com/office/drawing/2014/main" id="{BC283C02-A980-86E0-0329-FDF9D0823081}"/>
              </a:ext>
            </a:extLst>
          </p:cNvPr>
          <p:cNvSpPr>
            <a:spLocks noGrp="1"/>
          </p:cNvSpPr>
          <p:nvPr>
            <p:ph type="pic" sz="quarter" idx="13"/>
          </p:nvPr>
        </p:nvSpPr>
        <p:spPr/>
      </p:sp>
      <p:pic>
        <p:nvPicPr>
          <p:cNvPr id="12" name="Picture 11">
            <a:extLst>
              <a:ext uri="{FF2B5EF4-FFF2-40B4-BE49-F238E27FC236}">
                <a16:creationId xmlns:a16="http://schemas.microsoft.com/office/drawing/2014/main" id="{7014D8C6-6BF2-3F80-A547-DC244E867C38}"/>
              </a:ext>
            </a:extLst>
          </p:cNvPr>
          <p:cNvPicPr>
            <a:picLocks noChangeAspect="1"/>
          </p:cNvPicPr>
          <p:nvPr/>
        </p:nvPicPr>
        <p:blipFill>
          <a:blip r:embed="rId2"/>
          <a:stretch>
            <a:fillRect/>
          </a:stretch>
        </p:blipFill>
        <p:spPr>
          <a:xfrm>
            <a:off x="7400417" y="1"/>
            <a:ext cx="4407283" cy="1582994"/>
          </a:xfrm>
          <a:prstGeom prst="rect">
            <a:avLst/>
          </a:prstGeom>
        </p:spPr>
      </p:pic>
      <p:pic>
        <p:nvPicPr>
          <p:cNvPr id="14" name="Picture 13">
            <a:extLst>
              <a:ext uri="{FF2B5EF4-FFF2-40B4-BE49-F238E27FC236}">
                <a16:creationId xmlns:a16="http://schemas.microsoft.com/office/drawing/2014/main" id="{9DF9552A-90C5-53FE-6BF1-CFC8F0D6B4F1}"/>
              </a:ext>
            </a:extLst>
          </p:cNvPr>
          <p:cNvPicPr>
            <a:picLocks noChangeAspect="1"/>
          </p:cNvPicPr>
          <p:nvPr/>
        </p:nvPicPr>
        <p:blipFill>
          <a:blip r:embed="rId3"/>
          <a:stretch>
            <a:fillRect/>
          </a:stretch>
        </p:blipFill>
        <p:spPr>
          <a:xfrm>
            <a:off x="7400416" y="1582995"/>
            <a:ext cx="4407285" cy="2694037"/>
          </a:xfrm>
          <a:prstGeom prst="rect">
            <a:avLst/>
          </a:prstGeom>
        </p:spPr>
      </p:pic>
      <p:pic>
        <p:nvPicPr>
          <p:cNvPr id="16" name="Picture 15">
            <a:extLst>
              <a:ext uri="{FF2B5EF4-FFF2-40B4-BE49-F238E27FC236}">
                <a16:creationId xmlns:a16="http://schemas.microsoft.com/office/drawing/2014/main" id="{0253601E-884A-F116-2A28-12A3988D3366}"/>
              </a:ext>
            </a:extLst>
          </p:cNvPr>
          <p:cNvPicPr>
            <a:picLocks noChangeAspect="1"/>
          </p:cNvPicPr>
          <p:nvPr/>
        </p:nvPicPr>
        <p:blipFill>
          <a:blip r:embed="rId4"/>
          <a:stretch>
            <a:fillRect/>
          </a:stretch>
        </p:blipFill>
        <p:spPr>
          <a:xfrm rot="16200000">
            <a:off x="8313448" y="3363874"/>
            <a:ext cx="2580969" cy="4407283"/>
          </a:xfrm>
          <a:prstGeom prst="rect">
            <a:avLst/>
          </a:prstGeom>
        </p:spPr>
      </p:pic>
    </p:spTree>
    <p:extLst>
      <p:ext uri="{BB962C8B-B14F-4D97-AF65-F5344CB8AC3E}">
        <p14:creationId xmlns:p14="http://schemas.microsoft.com/office/powerpoint/2010/main" val="97185894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8755E6-C2A2-467E-6EEE-DE0755388C44}"/>
              </a:ext>
            </a:extLst>
          </p:cNvPr>
          <p:cNvSpPr>
            <a:spLocks noGrp="1"/>
          </p:cNvSpPr>
          <p:nvPr>
            <p:ph type="dt" sz="half" idx="10"/>
          </p:nvPr>
        </p:nvSpPr>
        <p:spPr/>
        <p:txBody>
          <a:bodyPr/>
          <a:lstStyle/>
          <a:p>
            <a:fld id="{EEE6A364-A39C-470E-B89A-9BD899585684}" type="datetime1">
              <a:rPr lang="en-US" smtClean="0"/>
              <a:t>5/6/2026</a:t>
            </a:fld>
            <a:endParaRPr lang="en-US" dirty="0"/>
          </a:p>
        </p:txBody>
      </p:sp>
      <p:sp>
        <p:nvSpPr>
          <p:cNvPr id="3" name="Slide Number Placeholder 2">
            <a:extLst>
              <a:ext uri="{FF2B5EF4-FFF2-40B4-BE49-F238E27FC236}">
                <a16:creationId xmlns:a16="http://schemas.microsoft.com/office/drawing/2014/main" id="{D9366D19-09B0-55E9-DC5E-7A633D220243}"/>
              </a:ext>
            </a:extLst>
          </p:cNvPr>
          <p:cNvSpPr>
            <a:spLocks noGrp="1"/>
          </p:cNvSpPr>
          <p:nvPr>
            <p:ph type="sldNum" sz="quarter" idx="12"/>
          </p:nvPr>
        </p:nvSpPr>
        <p:spPr/>
        <p:txBody>
          <a:bodyPr/>
          <a:lstStyle/>
          <a:p>
            <a:fld id="{CC057153-B650-4DEB-B370-79DDCFDCE934}" type="slidenum">
              <a:rPr lang="en-US" smtClean="0"/>
              <a:t>10</a:t>
            </a:fld>
            <a:endParaRPr lang="en-US" dirty="0"/>
          </a:p>
        </p:txBody>
      </p:sp>
      <p:sp>
        <p:nvSpPr>
          <p:cNvPr id="4" name="Content Placeholder 3">
            <a:extLst>
              <a:ext uri="{FF2B5EF4-FFF2-40B4-BE49-F238E27FC236}">
                <a16:creationId xmlns:a16="http://schemas.microsoft.com/office/drawing/2014/main" id="{C42D44D3-1339-D99A-885C-061395849020}"/>
              </a:ext>
            </a:extLst>
          </p:cNvPr>
          <p:cNvSpPr>
            <a:spLocks noGrp="1"/>
          </p:cNvSpPr>
          <p:nvPr>
            <p:ph idx="1"/>
          </p:nvPr>
        </p:nvSpPr>
        <p:spPr>
          <a:xfrm>
            <a:off x="182880" y="844060"/>
            <a:ext cx="11442188" cy="5851708"/>
          </a:xfrm>
        </p:spPr>
        <p:txBody>
          <a:bodyPr/>
          <a:lstStyle/>
          <a:p>
            <a:r>
              <a:rPr lang="en-US" sz="1600" dirty="0"/>
              <a:t>The model selection plots based on Adjusted R², BIC, and Cp were used to determine the optimal number of predictors for the subset model. The Adjusted R² increases initially and then stabilizes, indicating that adding more variables beyond a certain point does not significantly improve model performance. The BIC criterion reaches its minimum at a smaller number of variables, suggesting that a simpler model is preferred. Similarly, the Cp statistic is minimized at a low number of predictors, confirming the selection of a parsimonious model. Overall, all three criteria consistently indicate that a model with fewer variables provides the best balance between goodness of fit and model complexity.</a:t>
            </a:r>
          </a:p>
          <a:p>
            <a:r>
              <a:rPr lang="en-US" sz="1600" b="1" dirty="0"/>
              <a:t>Key Points :-</a:t>
            </a:r>
          </a:p>
          <a:p>
            <a:pPr marL="285750" indent="-285750">
              <a:spcBef>
                <a:spcPts val="0"/>
              </a:spcBef>
              <a:buFont typeface="Wingdings" panose="05000000000000000000" pitchFamily="2" charset="2"/>
              <a:buChar char="q"/>
            </a:pPr>
            <a:r>
              <a:rPr lang="en-US" sz="1600" dirty="0"/>
              <a:t>Adjusted R² stabilizes after few variables </a:t>
            </a:r>
          </a:p>
          <a:p>
            <a:pPr marL="285750" indent="-285750">
              <a:spcBef>
                <a:spcPts val="0"/>
              </a:spcBef>
              <a:buFont typeface="Wingdings" panose="05000000000000000000" pitchFamily="2" charset="2"/>
              <a:buChar char="q"/>
            </a:pPr>
            <a:r>
              <a:rPr lang="en-US" sz="1600" dirty="0"/>
              <a:t>BIC selects </a:t>
            </a:r>
            <a:r>
              <a:rPr lang="en-US" sz="1600" b="1" dirty="0"/>
              <a:t>simplest model (minimum value)</a:t>
            </a:r>
            <a:r>
              <a:rPr lang="en-US" sz="1600" dirty="0"/>
              <a:t> </a:t>
            </a:r>
          </a:p>
          <a:p>
            <a:pPr marL="285750" indent="-285750">
              <a:spcBef>
                <a:spcPts val="0"/>
              </a:spcBef>
              <a:buFont typeface="Wingdings" panose="05000000000000000000" pitchFamily="2" charset="2"/>
              <a:buChar char="q"/>
            </a:pPr>
            <a:r>
              <a:rPr lang="en-US" sz="1600" dirty="0"/>
              <a:t>Cp confirms optimal model size </a:t>
            </a:r>
          </a:p>
          <a:p>
            <a:pPr marL="285750" indent="-285750">
              <a:spcBef>
                <a:spcPts val="0"/>
              </a:spcBef>
              <a:buFont typeface="Wingdings" panose="05000000000000000000" pitchFamily="2" charset="2"/>
              <a:buChar char="q"/>
            </a:pPr>
            <a:r>
              <a:rPr lang="en-US" sz="1600" dirty="0"/>
              <a:t>Avoids overfitting</a:t>
            </a:r>
          </a:p>
          <a:p>
            <a:r>
              <a:rPr lang="en-US" sz="1600" dirty="0"/>
              <a:t>The Actual vs Predicted plot for the subset selection model shows an almost perfect alignment of data points along the diagonal reference line, indicating highly accurate predictions. The close clustering of points suggests that the model effectively captures the relationship between predictors and the closing price. Unlike the multiple linear regression model, there is minimal dispersion, reflecting very low prediction error and excellent model fit. This strong linear alignment confirms the high R-squared value and demonstrates that the subset model provides a highly reliable and precise representation of the data.</a:t>
            </a:r>
          </a:p>
          <a:p>
            <a:r>
              <a:rPr lang="en-US" sz="1600" b="1" dirty="0"/>
              <a:t>Key Points :-</a:t>
            </a:r>
          </a:p>
          <a:p>
            <a:pPr marL="285750" indent="-285750">
              <a:spcBef>
                <a:spcPts val="0"/>
              </a:spcBef>
              <a:buFont typeface="Wingdings" panose="05000000000000000000" pitchFamily="2" charset="2"/>
              <a:buChar char="q"/>
            </a:pPr>
            <a:r>
              <a:rPr lang="en-US" sz="1600" dirty="0"/>
              <a:t>Points lie almost exactly on diagonal </a:t>
            </a:r>
          </a:p>
          <a:p>
            <a:pPr marL="285750" indent="-285750">
              <a:spcBef>
                <a:spcPts val="0"/>
              </a:spcBef>
              <a:buFont typeface="Wingdings" panose="05000000000000000000" pitchFamily="2" charset="2"/>
              <a:buChar char="q"/>
            </a:pPr>
            <a:r>
              <a:rPr lang="en-US" sz="1600" dirty="0"/>
              <a:t>Very low prediction error </a:t>
            </a:r>
          </a:p>
          <a:p>
            <a:pPr marL="285750" indent="-285750">
              <a:spcBef>
                <a:spcPts val="0"/>
              </a:spcBef>
              <a:buFont typeface="Wingdings" panose="05000000000000000000" pitchFamily="2" charset="2"/>
              <a:buChar char="q"/>
            </a:pPr>
            <a:r>
              <a:rPr lang="en-US" sz="1600" dirty="0"/>
              <a:t>Strong model fit </a:t>
            </a:r>
          </a:p>
          <a:p>
            <a:pPr marL="285750" indent="-285750">
              <a:spcBef>
                <a:spcPts val="0"/>
              </a:spcBef>
              <a:buFont typeface="Wingdings" panose="05000000000000000000" pitchFamily="2" charset="2"/>
              <a:buChar char="q"/>
            </a:pPr>
            <a:r>
              <a:rPr lang="en-US" sz="1600" dirty="0"/>
              <a:t>High accuracy</a:t>
            </a:r>
          </a:p>
          <a:p>
            <a:endParaRPr lang="en-IN" sz="1600" dirty="0"/>
          </a:p>
        </p:txBody>
      </p:sp>
      <p:sp>
        <p:nvSpPr>
          <p:cNvPr id="5" name="Title 4">
            <a:extLst>
              <a:ext uri="{FF2B5EF4-FFF2-40B4-BE49-F238E27FC236}">
                <a16:creationId xmlns:a16="http://schemas.microsoft.com/office/drawing/2014/main" id="{8FDF7D61-26A5-7222-116B-7C4D39599F86}"/>
              </a:ext>
            </a:extLst>
          </p:cNvPr>
          <p:cNvSpPr>
            <a:spLocks noGrp="1"/>
          </p:cNvSpPr>
          <p:nvPr>
            <p:ph type="title"/>
          </p:nvPr>
        </p:nvSpPr>
        <p:spPr>
          <a:xfrm>
            <a:off x="182880" y="0"/>
            <a:ext cx="11442188" cy="844060"/>
          </a:xfrm>
        </p:spPr>
        <p:txBody>
          <a:bodyPr>
            <a:noAutofit/>
          </a:bodyPr>
          <a:lstStyle/>
          <a:p>
            <a:r>
              <a:rPr lang="en-US" sz="2400" u="sng" dirty="0">
                <a:solidFill>
                  <a:schemeClr val="accent1">
                    <a:lumMod val="75000"/>
                  </a:schemeClr>
                </a:solidFill>
                <a:latin typeface="Algerian" panose="04020705040A02060702" pitchFamily="82" charset="0"/>
              </a:rPr>
              <a:t>Model Selection Criteria and Actual vs Predicted Plot – Subset Selection Model:</a:t>
            </a:r>
            <a:endParaRPr lang="en-IN" sz="2400" u="sng" dirty="0">
              <a:solidFill>
                <a:schemeClr val="accent1">
                  <a:lumMod val="75000"/>
                </a:schemeClr>
              </a:solidFill>
              <a:latin typeface="Algerian" panose="04020705040A02060702" pitchFamily="82" charset="0"/>
            </a:endParaRPr>
          </a:p>
        </p:txBody>
      </p:sp>
    </p:spTree>
    <p:extLst>
      <p:ext uri="{BB962C8B-B14F-4D97-AF65-F5344CB8AC3E}">
        <p14:creationId xmlns:p14="http://schemas.microsoft.com/office/powerpoint/2010/main" val="192369030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6431-B4D0-33C2-1027-4D1F887B2B0F}"/>
              </a:ext>
            </a:extLst>
          </p:cNvPr>
          <p:cNvSpPr>
            <a:spLocks noGrp="1"/>
          </p:cNvSpPr>
          <p:nvPr>
            <p:ph type="title"/>
          </p:nvPr>
        </p:nvSpPr>
        <p:spPr>
          <a:xfrm>
            <a:off x="548647" y="98324"/>
            <a:ext cx="10690155" cy="1022553"/>
          </a:xfrm>
        </p:spPr>
        <p:txBody>
          <a:bodyPr/>
          <a:lstStyle/>
          <a:p>
            <a:r>
              <a:rPr lang="en-IN" sz="2800" u="sng" dirty="0">
                <a:solidFill>
                  <a:schemeClr val="accent1">
                    <a:lumMod val="75000"/>
                  </a:schemeClr>
                </a:solidFill>
                <a:latin typeface="Baskerville Old Face" panose="02020602080505020303" pitchFamily="18" charset="0"/>
              </a:rPr>
              <a:t>Comparison: Linear Regression vs Subset Selection</a:t>
            </a:r>
            <a:endParaRPr lang="en-US" sz="2800" u="sng" dirty="0">
              <a:solidFill>
                <a:schemeClr val="accent1">
                  <a:lumMod val="75000"/>
                </a:schemeClr>
              </a:solidFill>
              <a:latin typeface="Baskerville Old Face" panose="02020602080505020303" pitchFamily="18" charset="0"/>
            </a:endParaRPr>
          </a:p>
        </p:txBody>
      </p:sp>
      <p:sp>
        <p:nvSpPr>
          <p:cNvPr id="4" name="Date Placeholder 3">
            <a:extLst>
              <a:ext uri="{FF2B5EF4-FFF2-40B4-BE49-F238E27FC236}">
                <a16:creationId xmlns:a16="http://schemas.microsoft.com/office/drawing/2014/main" id="{590D25A8-B3AA-98F8-C561-40E934CA327C}"/>
              </a:ext>
            </a:extLst>
          </p:cNvPr>
          <p:cNvSpPr>
            <a:spLocks noGrp="1"/>
          </p:cNvSpPr>
          <p:nvPr>
            <p:ph type="dt" sz="half" idx="10"/>
          </p:nvPr>
        </p:nvSpPr>
        <p:spPr>
          <a:xfrm rot="16200000">
            <a:off x="11577948" y="230006"/>
            <a:ext cx="844062" cy="384047"/>
          </a:xfrm>
        </p:spPr>
        <p:txBody>
          <a:bodyPr/>
          <a:lstStyle/>
          <a:p>
            <a:fld id="{990E4242-8CA0-457D-B3B1-7D78B4164321}" type="datetime1">
              <a:rPr lang="en-US" smtClean="0"/>
              <a:pPr/>
              <a:t>5/5/2026</a:t>
            </a:fld>
            <a:endParaRPr lang="en-US" dirty="0"/>
          </a:p>
        </p:txBody>
      </p:sp>
      <p:sp>
        <p:nvSpPr>
          <p:cNvPr id="5" name="Slide Number Placeholder 4">
            <a:extLst>
              <a:ext uri="{FF2B5EF4-FFF2-40B4-BE49-F238E27FC236}">
                <a16:creationId xmlns:a16="http://schemas.microsoft.com/office/drawing/2014/main" id="{38B15906-E327-3915-530D-2582032A1B8D}"/>
              </a:ext>
            </a:extLst>
          </p:cNvPr>
          <p:cNvSpPr>
            <a:spLocks noGrp="1"/>
          </p:cNvSpPr>
          <p:nvPr>
            <p:ph type="sldNum" sz="quarter" idx="12"/>
          </p:nvPr>
        </p:nvSpPr>
        <p:spPr>
          <a:xfrm rot="16200000">
            <a:off x="11679259" y="6345258"/>
            <a:ext cx="641433" cy="384048"/>
          </a:xfrm>
        </p:spPr>
        <p:txBody>
          <a:bodyPr/>
          <a:lstStyle/>
          <a:p>
            <a:fld id="{CC057153-B650-4DEB-B370-79DDCFDCE934}" type="slidenum">
              <a:rPr lang="en-US" smtClean="0"/>
              <a:pPr/>
              <a:t>11</a:t>
            </a:fld>
            <a:endParaRPr lang="en-US" dirty="0"/>
          </a:p>
        </p:txBody>
      </p:sp>
      <p:graphicFrame>
        <p:nvGraphicFramePr>
          <p:cNvPr id="8" name="Content Placeholder 7">
            <a:extLst>
              <a:ext uri="{FF2B5EF4-FFF2-40B4-BE49-F238E27FC236}">
                <a16:creationId xmlns:a16="http://schemas.microsoft.com/office/drawing/2014/main" id="{84645356-44FB-FEF7-B6FA-6E211602D7EE}"/>
              </a:ext>
            </a:extLst>
          </p:cNvPr>
          <p:cNvGraphicFramePr>
            <a:graphicFrameLocks noGrp="1"/>
          </p:cNvGraphicFramePr>
          <p:nvPr>
            <p:ph idx="1"/>
            <p:extLst>
              <p:ext uri="{D42A27DB-BD31-4B8C-83A1-F6EECF244321}">
                <p14:modId xmlns:p14="http://schemas.microsoft.com/office/powerpoint/2010/main" val="2315663228"/>
              </p:ext>
            </p:extLst>
          </p:nvPr>
        </p:nvGraphicFramePr>
        <p:xfrm>
          <a:off x="549275" y="1076119"/>
          <a:ext cx="10688637" cy="5096286"/>
        </p:xfrm>
        <a:graphic>
          <a:graphicData uri="http://schemas.openxmlformats.org/drawingml/2006/table">
            <a:tbl>
              <a:tblPr>
                <a:tableStyleId>{21E4AEA4-8DFA-4A89-87EB-49C32662AFE0}</a:tableStyleId>
              </a:tblPr>
              <a:tblGrid>
                <a:gridCol w="3562879">
                  <a:extLst>
                    <a:ext uri="{9D8B030D-6E8A-4147-A177-3AD203B41FA5}">
                      <a16:colId xmlns:a16="http://schemas.microsoft.com/office/drawing/2014/main" val="741893454"/>
                    </a:ext>
                  </a:extLst>
                </a:gridCol>
                <a:gridCol w="3562879">
                  <a:extLst>
                    <a:ext uri="{9D8B030D-6E8A-4147-A177-3AD203B41FA5}">
                      <a16:colId xmlns:a16="http://schemas.microsoft.com/office/drawing/2014/main" val="767578565"/>
                    </a:ext>
                  </a:extLst>
                </a:gridCol>
                <a:gridCol w="3562879">
                  <a:extLst>
                    <a:ext uri="{9D8B030D-6E8A-4147-A177-3AD203B41FA5}">
                      <a16:colId xmlns:a16="http://schemas.microsoft.com/office/drawing/2014/main" val="1415414206"/>
                    </a:ext>
                  </a:extLst>
                </a:gridCol>
              </a:tblGrid>
              <a:tr h="356908">
                <a:tc>
                  <a:txBody>
                    <a:bodyPr/>
                    <a:lstStyle/>
                    <a:p>
                      <a:pPr>
                        <a:buNone/>
                      </a:pPr>
                      <a:r>
                        <a:rPr lang="en-IN" sz="1800" b="1" dirty="0"/>
                        <a:t>Aspect</a:t>
                      </a:r>
                    </a:p>
                  </a:txBody>
                  <a:tcPr marL="89227" marR="89227" marT="44613" marB="44613" anchor="ctr"/>
                </a:tc>
                <a:tc>
                  <a:txBody>
                    <a:bodyPr/>
                    <a:lstStyle/>
                    <a:p>
                      <a:pPr>
                        <a:buNone/>
                      </a:pPr>
                      <a:r>
                        <a:rPr lang="en-IN" sz="1800" b="1" dirty="0"/>
                        <a:t>Multiple Linear Regression</a:t>
                      </a:r>
                    </a:p>
                  </a:txBody>
                  <a:tcPr marL="89227" marR="89227" marT="44613" marB="44613" anchor="ctr"/>
                </a:tc>
                <a:tc>
                  <a:txBody>
                    <a:bodyPr/>
                    <a:lstStyle/>
                    <a:p>
                      <a:pPr>
                        <a:buNone/>
                      </a:pPr>
                      <a:r>
                        <a:rPr lang="en-IN" sz="1800" b="1" dirty="0"/>
                        <a:t>Subset Selection Model</a:t>
                      </a:r>
                    </a:p>
                  </a:txBody>
                  <a:tcPr marL="89227" marR="89227" marT="44613" marB="44613" anchor="ctr"/>
                </a:tc>
                <a:extLst>
                  <a:ext uri="{0D108BD9-81ED-4DB2-BD59-A6C34878D82A}">
                    <a16:rowId xmlns:a16="http://schemas.microsoft.com/office/drawing/2014/main" val="3472585756"/>
                  </a:ext>
                </a:extLst>
              </a:tr>
              <a:tr h="624588">
                <a:tc>
                  <a:txBody>
                    <a:bodyPr/>
                    <a:lstStyle/>
                    <a:p>
                      <a:pPr>
                        <a:buNone/>
                      </a:pPr>
                      <a:r>
                        <a:rPr lang="en-IN" sz="1800" b="1" dirty="0"/>
                        <a:t>Model Type</a:t>
                      </a:r>
                      <a:endParaRPr lang="en-IN" sz="1800" dirty="0"/>
                    </a:p>
                  </a:txBody>
                  <a:tcPr marL="89227" marR="89227" marT="44613" marB="44613" anchor="ctr"/>
                </a:tc>
                <a:tc>
                  <a:txBody>
                    <a:bodyPr/>
                    <a:lstStyle/>
                    <a:p>
                      <a:pPr>
                        <a:buNone/>
                      </a:pPr>
                      <a:r>
                        <a:rPr lang="en-IN" sz="1800"/>
                        <a:t>Uses all predictors</a:t>
                      </a:r>
                    </a:p>
                  </a:txBody>
                  <a:tcPr marL="89227" marR="89227" marT="44613" marB="44613" anchor="ctr"/>
                </a:tc>
                <a:tc>
                  <a:txBody>
                    <a:bodyPr/>
                    <a:lstStyle/>
                    <a:p>
                      <a:pPr>
                        <a:buNone/>
                      </a:pPr>
                      <a:r>
                        <a:rPr lang="en-US" sz="1800"/>
                        <a:t>Uses selected predictors (High, Low)</a:t>
                      </a:r>
                    </a:p>
                  </a:txBody>
                  <a:tcPr marL="89227" marR="89227" marT="44613" marB="44613" anchor="ctr"/>
                </a:tc>
                <a:extLst>
                  <a:ext uri="{0D108BD9-81ED-4DB2-BD59-A6C34878D82A}">
                    <a16:rowId xmlns:a16="http://schemas.microsoft.com/office/drawing/2014/main" val="2720909241"/>
                  </a:ext>
                </a:extLst>
              </a:tr>
              <a:tr h="356908">
                <a:tc>
                  <a:txBody>
                    <a:bodyPr/>
                    <a:lstStyle/>
                    <a:p>
                      <a:pPr>
                        <a:buNone/>
                      </a:pPr>
                      <a:r>
                        <a:rPr lang="en-IN" sz="1800" b="1"/>
                        <a:t>Complexity</a:t>
                      </a:r>
                      <a:endParaRPr lang="en-IN" sz="1800"/>
                    </a:p>
                  </a:txBody>
                  <a:tcPr marL="89227" marR="89227" marT="44613" marB="44613" anchor="ctr"/>
                </a:tc>
                <a:tc>
                  <a:txBody>
                    <a:bodyPr/>
                    <a:lstStyle/>
                    <a:p>
                      <a:pPr>
                        <a:buNone/>
                      </a:pPr>
                      <a:r>
                        <a:rPr lang="en-IN" sz="1800"/>
                        <a:t>High (many variables)</a:t>
                      </a:r>
                    </a:p>
                  </a:txBody>
                  <a:tcPr marL="89227" marR="89227" marT="44613" marB="44613" anchor="ctr"/>
                </a:tc>
                <a:tc>
                  <a:txBody>
                    <a:bodyPr/>
                    <a:lstStyle/>
                    <a:p>
                      <a:pPr>
                        <a:buNone/>
                      </a:pPr>
                      <a:r>
                        <a:rPr lang="en-IN" sz="1800"/>
                        <a:t>Low (only 2 variables)</a:t>
                      </a:r>
                    </a:p>
                  </a:txBody>
                  <a:tcPr marL="89227" marR="89227" marT="44613" marB="44613" anchor="ctr"/>
                </a:tc>
                <a:extLst>
                  <a:ext uri="{0D108BD9-81ED-4DB2-BD59-A6C34878D82A}">
                    <a16:rowId xmlns:a16="http://schemas.microsoft.com/office/drawing/2014/main" val="989946164"/>
                  </a:ext>
                </a:extLst>
              </a:tr>
              <a:tr h="356908">
                <a:tc>
                  <a:txBody>
                    <a:bodyPr/>
                    <a:lstStyle/>
                    <a:p>
                      <a:pPr>
                        <a:buNone/>
                      </a:pPr>
                      <a:r>
                        <a:rPr lang="en-IN" sz="1800" b="1"/>
                        <a:t>Significance</a:t>
                      </a:r>
                      <a:endParaRPr lang="en-IN" sz="1800"/>
                    </a:p>
                  </a:txBody>
                  <a:tcPr marL="89227" marR="89227" marT="44613" marB="44613" anchor="ctr"/>
                </a:tc>
                <a:tc>
                  <a:txBody>
                    <a:bodyPr/>
                    <a:lstStyle/>
                    <a:p>
                      <a:pPr>
                        <a:buNone/>
                      </a:pPr>
                      <a:r>
                        <a:rPr lang="en-IN" sz="1800"/>
                        <a:t>No significant predictors</a:t>
                      </a:r>
                    </a:p>
                  </a:txBody>
                  <a:tcPr marL="89227" marR="89227" marT="44613" marB="44613" anchor="ctr"/>
                </a:tc>
                <a:tc>
                  <a:txBody>
                    <a:bodyPr/>
                    <a:lstStyle/>
                    <a:p>
                      <a:pPr>
                        <a:buNone/>
                      </a:pPr>
                      <a:r>
                        <a:rPr lang="en-IN" sz="1800"/>
                        <a:t>Strong predictive relationship</a:t>
                      </a:r>
                    </a:p>
                  </a:txBody>
                  <a:tcPr marL="89227" marR="89227" marT="44613" marB="44613" anchor="ctr"/>
                </a:tc>
                <a:extLst>
                  <a:ext uri="{0D108BD9-81ED-4DB2-BD59-A6C34878D82A}">
                    <a16:rowId xmlns:a16="http://schemas.microsoft.com/office/drawing/2014/main" val="2609019508"/>
                  </a:ext>
                </a:extLst>
              </a:tr>
              <a:tr h="356908">
                <a:tc>
                  <a:txBody>
                    <a:bodyPr/>
                    <a:lstStyle/>
                    <a:p>
                      <a:pPr>
                        <a:buNone/>
                      </a:pPr>
                      <a:r>
                        <a:rPr lang="en-IN" sz="1800" b="1"/>
                        <a:t>R-squared</a:t>
                      </a:r>
                      <a:endParaRPr lang="en-IN" sz="1800"/>
                    </a:p>
                  </a:txBody>
                  <a:tcPr marL="89227" marR="89227" marT="44613" marB="44613" anchor="ctr"/>
                </a:tc>
                <a:tc>
                  <a:txBody>
                    <a:bodyPr/>
                    <a:lstStyle/>
                    <a:p>
                      <a:pPr>
                        <a:buNone/>
                      </a:pPr>
                      <a:r>
                        <a:rPr lang="en-IN" sz="1800"/>
                        <a:t>Very low (~0.0078)</a:t>
                      </a:r>
                    </a:p>
                  </a:txBody>
                  <a:tcPr marL="89227" marR="89227" marT="44613" marB="44613" anchor="ctr"/>
                </a:tc>
                <a:tc>
                  <a:txBody>
                    <a:bodyPr/>
                    <a:lstStyle/>
                    <a:p>
                      <a:pPr>
                        <a:buNone/>
                      </a:pPr>
                      <a:r>
                        <a:rPr lang="en-IN" sz="1800"/>
                        <a:t>Extremely high (~0.9982)</a:t>
                      </a:r>
                    </a:p>
                  </a:txBody>
                  <a:tcPr marL="89227" marR="89227" marT="44613" marB="44613" anchor="ctr"/>
                </a:tc>
                <a:extLst>
                  <a:ext uri="{0D108BD9-81ED-4DB2-BD59-A6C34878D82A}">
                    <a16:rowId xmlns:a16="http://schemas.microsoft.com/office/drawing/2014/main" val="964144584"/>
                  </a:ext>
                </a:extLst>
              </a:tr>
              <a:tr h="624588">
                <a:tc>
                  <a:txBody>
                    <a:bodyPr/>
                    <a:lstStyle/>
                    <a:p>
                      <a:pPr>
                        <a:buNone/>
                      </a:pPr>
                      <a:r>
                        <a:rPr lang="en-IN" sz="1800" b="1"/>
                        <a:t>Prediction Accuracy</a:t>
                      </a:r>
                      <a:endParaRPr lang="en-IN" sz="1800"/>
                    </a:p>
                  </a:txBody>
                  <a:tcPr marL="89227" marR="89227" marT="44613" marB="44613" anchor="ctr"/>
                </a:tc>
                <a:tc>
                  <a:txBody>
                    <a:bodyPr/>
                    <a:lstStyle/>
                    <a:p>
                      <a:pPr>
                        <a:buNone/>
                      </a:pPr>
                      <a:r>
                        <a:rPr lang="en-IN" sz="1800"/>
                        <a:t>Poor (high error)</a:t>
                      </a:r>
                    </a:p>
                  </a:txBody>
                  <a:tcPr marL="89227" marR="89227" marT="44613" marB="44613" anchor="ctr"/>
                </a:tc>
                <a:tc>
                  <a:txBody>
                    <a:bodyPr/>
                    <a:lstStyle/>
                    <a:p>
                      <a:pPr>
                        <a:buNone/>
                      </a:pPr>
                      <a:r>
                        <a:rPr lang="fr-FR" sz="1800"/>
                        <a:t>Excellent (RMSE ≈ 0.47, MAE ≈ 0.38)</a:t>
                      </a:r>
                    </a:p>
                  </a:txBody>
                  <a:tcPr marL="89227" marR="89227" marT="44613" marB="44613" anchor="ctr"/>
                </a:tc>
                <a:extLst>
                  <a:ext uri="{0D108BD9-81ED-4DB2-BD59-A6C34878D82A}">
                    <a16:rowId xmlns:a16="http://schemas.microsoft.com/office/drawing/2014/main" val="2990223590"/>
                  </a:ext>
                </a:extLst>
              </a:tr>
              <a:tr h="356908">
                <a:tc>
                  <a:txBody>
                    <a:bodyPr/>
                    <a:lstStyle/>
                    <a:p>
                      <a:pPr>
                        <a:buNone/>
                      </a:pPr>
                      <a:r>
                        <a:rPr lang="en-IN" sz="1800" b="1"/>
                        <a:t>Model Fit</a:t>
                      </a:r>
                      <a:endParaRPr lang="en-IN" sz="1800"/>
                    </a:p>
                  </a:txBody>
                  <a:tcPr marL="89227" marR="89227" marT="44613" marB="44613" anchor="ctr"/>
                </a:tc>
                <a:tc>
                  <a:txBody>
                    <a:bodyPr/>
                    <a:lstStyle/>
                    <a:p>
                      <a:pPr>
                        <a:buNone/>
                      </a:pPr>
                      <a:r>
                        <a:rPr lang="en-IN" sz="1800"/>
                        <a:t>Weak</a:t>
                      </a:r>
                    </a:p>
                  </a:txBody>
                  <a:tcPr marL="89227" marR="89227" marT="44613" marB="44613" anchor="ctr"/>
                </a:tc>
                <a:tc>
                  <a:txBody>
                    <a:bodyPr/>
                    <a:lstStyle/>
                    <a:p>
                      <a:pPr>
                        <a:buNone/>
                      </a:pPr>
                      <a:r>
                        <a:rPr lang="en-IN" sz="1800"/>
                        <a:t>Very strong</a:t>
                      </a:r>
                    </a:p>
                  </a:txBody>
                  <a:tcPr marL="89227" marR="89227" marT="44613" marB="44613" anchor="ctr"/>
                </a:tc>
                <a:extLst>
                  <a:ext uri="{0D108BD9-81ED-4DB2-BD59-A6C34878D82A}">
                    <a16:rowId xmlns:a16="http://schemas.microsoft.com/office/drawing/2014/main" val="4061253002"/>
                  </a:ext>
                </a:extLst>
              </a:tr>
              <a:tr h="356908">
                <a:tc>
                  <a:txBody>
                    <a:bodyPr/>
                    <a:lstStyle/>
                    <a:p>
                      <a:pPr>
                        <a:buNone/>
                      </a:pPr>
                      <a:r>
                        <a:rPr lang="en-IN" sz="1800" b="1"/>
                        <a:t>Overfitting Risk</a:t>
                      </a:r>
                      <a:endParaRPr lang="en-IN" sz="1800"/>
                    </a:p>
                  </a:txBody>
                  <a:tcPr marL="89227" marR="89227" marT="44613" marB="44613" anchor="ctr"/>
                </a:tc>
                <a:tc>
                  <a:txBody>
                    <a:bodyPr/>
                    <a:lstStyle/>
                    <a:p>
                      <a:pPr>
                        <a:buNone/>
                      </a:pPr>
                      <a:r>
                        <a:rPr lang="en-IN" sz="1800"/>
                        <a:t>Higher</a:t>
                      </a:r>
                    </a:p>
                  </a:txBody>
                  <a:tcPr marL="89227" marR="89227" marT="44613" marB="44613" anchor="ctr"/>
                </a:tc>
                <a:tc>
                  <a:txBody>
                    <a:bodyPr/>
                    <a:lstStyle/>
                    <a:p>
                      <a:pPr>
                        <a:buNone/>
                      </a:pPr>
                      <a:r>
                        <a:rPr lang="en-IN" sz="1800"/>
                        <a:t>Lower (simpler model)</a:t>
                      </a:r>
                    </a:p>
                  </a:txBody>
                  <a:tcPr marL="89227" marR="89227" marT="44613" marB="44613" anchor="ctr"/>
                </a:tc>
                <a:extLst>
                  <a:ext uri="{0D108BD9-81ED-4DB2-BD59-A6C34878D82A}">
                    <a16:rowId xmlns:a16="http://schemas.microsoft.com/office/drawing/2014/main" val="2919264515"/>
                  </a:ext>
                </a:extLst>
              </a:tr>
              <a:tr h="356908">
                <a:tc>
                  <a:txBody>
                    <a:bodyPr/>
                    <a:lstStyle/>
                    <a:p>
                      <a:pPr>
                        <a:buNone/>
                      </a:pPr>
                      <a:r>
                        <a:rPr lang="en-IN" sz="1800" b="1"/>
                        <a:t>Interpretability</a:t>
                      </a:r>
                      <a:endParaRPr lang="en-IN" sz="1800"/>
                    </a:p>
                  </a:txBody>
                  <a:tcPr marL="89227" marR="89227" marT="44613" marB="44613" anchor="ctr"/>
                </a:tc>
                <a:tc>
                  <a:txBody>
                    <a:bodyPr/>
                    <a:lstStyle/>
                    <a:p>
                      <a:pPr>
                        <a:buNone/>
                      </a:pPr>
                      <a:r>
                        <a:rPr lang="en-IN" sz="1800"/>
                        <a:t>Difficult</a:t>
                      </a:r>
                    </a:p>
                  </a:txBody>
                  <a:tcPr marL="89227" marR="89227" marT="44613" marB="44613" anchor="ctr"/>
                </a:tc>
                <a:tc>
                  <a:txBody>
                    <a:bodyPr/>
                    <a:lstStyle/>
                    <a:p>
                      <a:pPr>
                        <a:buNone/>
                      </a:pPr>
                      <a:r>
                        <a:rPr lang="en-US" sz="1800"/>
                        <a:t>Very easy (only 2 variables)</a:t>
                      </a:r>
                    </a:p>
                  </a:txBody>
                  <a:tcPr marL="89227" marR="89227" marT="44613" marB="44613" anchor="ctr"/>
                </a:tc>
                <a:extLst>
                  <a:ext uri="{0D108BD9-81ED-4DB2-BD59-A6C34878D82A}">
                    <a16:rowId xmlns:a16="http://schemas.microsoft.com/office/drawing/2014/main" val="2374990602"/>
                  </a:ext>
                </a:extLst>
              </a:tr>
              <a:tr h="356908">
                <a:tc>
                  <a:txBody>
                    <a:bodyPr/>
                    <a:lstStyle/>
                    <a:p>
                      <a:pPr>
                        <a:buNone/>
                      </a:pPr>
                      <a:r>
                        <a:rPr lang="en-IN" sz="1800" b="1"/>
                        <a:t>Key Variables</a:t>
                      </a:r>
                      <a:endParaRPr lang="en-IN" sz="1800"/>
                    </a:p>
                  </a:txBody>
                  <a:tcPr marL="89227" marR="89227" marT="44613" marB="44613" anchor="ctr"/>
                </a:tc>
                <a:tc>
                  <a:txBody>
                    <a:bodyPr/>
                    <a:lstStyle/>
                    <a:p>
                      <a:pPr>
                        <a:buNone/>
                      </a:pPr>
                      <a:r>
                        <a:rPr lang="en-IN" sz="1800"/>
                        <a:t>Unclear importance</a:t>
                      </a:r>
                    </a:p>
                  </a:txBody>
                  <a:tcPr marL="89227" marR="89227" marT="44613" marB="44613" anchor="ctr"/>
                </a:tc>
                <a:tc>
                  <a:txBody>
                    <a:bodyPr/>
                    <a:lstStyle/>
                    <a:p>
                      <a:pPr>
                        <a:buNone/>
                      </a:pPr>
                      <a:r>
                        <a:rPr lang="en-US" sz="1800"/>
                        <a:t>High and Low are most important</a:t>
                      </a:r>
                    </a:p>
                  </a:txBody>
                  <a:tcPr marL="89227" marR="89227" marT="44613" marB="44613" anchor="ctr"/>
                </a:tc>
                <a:extLst>
                  <a:ext uri="{0D108BD9-81ED-4DB2-BD59-A6C34878D82A}">
                    <a16:rowId xmlns:a16="http://schemas.microsoft.com/office/drawing/2014/main" val="532017583"/>
                  </a:ext>
                </a:extLst>
              </a:tr>
              <a:tr h="624588">
                <a:tc>
                  <a:txBody>
                    <a:bodyPr/>
                    <a:lstStyle/>
                    <a:p>
                      <a:pPr>
                        <a:buNone/>
                      </a:pPr>
                      <a:r>
                        <a:rPr lang="en-IN" sz="1800" b="1"/>
                        <a:t>Overall Performance</a:t>
                      </a:r>
                      <a:endParaRPr lang="en-IN" sz="1800"/>
                    </a:p>
                  </a:txBody>
                  <a:tcPr marL="89227" marR="89227" marT="44613" marB="44613" anchor="ctr"/>
                </a:tc>
                <a:tc>
                  <a:txBody>
                    <a:bodyPr/>
                    <a:lstStyle/>
                    <a:p>
                      <a:pPr>
                        <a:buNone/>
                      </a:pPr>
                      <a:r>
                        <a:rPr lang="en-IN" sz="1800"/>
                        <a:t>Poor model</a:t>
                      </a:r>
                    </a:p>
                  </a:txBody>
                  <a:tcPr marL="89227" marR="89227" marT="44613" marB="44613" anchor="ctr"/>
                </a:tc>
                <a:tc>
                  <a:txBody>
                    <a:bodyPr/>
                    <a:lstStyle/>
                    <a:p>
                      <a:pPr>
                        <a:buNone/>
                      </a:pPr>
                      <a:r>
                        <a:rPr lang="en-US" sz="1800" dirty="0"/>
                        <a:t>Highly accurate and efficient model</a:t>
                      </a:r>
                    </a:p>
                  </a:txBody>
                  <a:tcPr marL="89227" marR="89227" marT="44613" marB="44613" anchor="ctr"/>
                </a:tc>
                <a:extLst>
                  <a:ext uri="{0D108BD9-81ED-4DB2-BD59-A6C34878D82A}">
                    <a16:rowId xmlns:a16="http://schemas.microsoft.com/office/drawing/2014/main" val="532508621"/>
                  </a:ext>
                </a:extLst>
              </a:tr>
            </a:tbl>
          </a:graphicData>
        </a:graphic>
      </p:graphicFrame>
    </p:spTree>
    <p:extLst>
      <p:ext uri="{BB962C8B-B14F-4D97-AF65-F5344CB8AC3E}">
        <p14:creationId xmlns:p14="http://schemas.microsoft.com/office/powerpoint/2010/main" val="1318409888"/>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E627691-C7C9-041E-ADD7-5688ADE556CF}"/>
              </a:ext>
            </a:extLst>
          </p:cNvPr>
          <p:cNvSpPr>
            <a:spLocks noGrp="1"/>
          </p:cNvSpPr>
          <p:nvPr>
            <p:ph type="dt" sz="half" idx="10"/>
          </p:nvPr>
        </p:nvSpPr>
        <p:spPr/>
        <p:txBody>
          <a:bodyPr/>
          <a:lstStyle/>
          <a:p>
            <a:fld id="{D73859A7-84EB-4384-87AF-59CC16704CF8}" type="datetime1">
              <a:rPr lang="en-US" smtClean="0"/>
              <a:t>5/6/2026</a:t>
            </a:fld>
            <a:endParaRPr lang="en-US" dirty="0"/>
          </a:p>
        </p:txBody>
      </p:sp>
      <p:sp>
        <p:nvSpPr>
          <p:cNvPr id="4" name="Slide Number Placeholder 3">
            <a:extLst>
              <a:ext uri="{FF2B5EF4-FFF2-40B4-BE49-F238E27FC236}">
                <a16:creationId xmlns:a16="http://schemas.microsoft.com/office/drawing/2014/main" id="{5B2649B5-9914-1D7C-E2B4-9F0B3EEF45DA}"/>
              </a:ext>
            </a:extLst>
          </p:cNvPr>
          <p:cNvSpPr>
            <a:spLocks noGrp="1"/>
          </p:cNvSpPr>
          <p:nvPr>
            <p:ph type="sldNum" sz="quarter" idx="12"/>
          </p:nvPr>
        </p:nvSpPr>
        <p:spPr/>
        <p:txBody>
          <a:bodyPr/>
          <a:lstStyle/>
          <a:p>
            <a:fld id="{CC057153-B650-4DEB-B370-79DDCFDCE934}" type="slidenum">
              <a:rPr lang="en-US" smtClean="0"/>
              <a:t>12</a:t>
            </a:fld>
            <a:endParaRPr lang="en-US" dirty="0"/>
          </a:p>
        </p:txBody>
      </p:sp>
      <p:sp>
        <p:nvSpPr>
          <p:cNvPr id="5" name="Content Placeholder 4">
            <a:extLst>
              <a:ext uri="{FF2B5EF4-FFF2-40B4-BE49-F238E27FC236}">
                <a16:creationId xmlns:a16="http://schemas.microsoft.com/office/drawing/2014/main" id="{E88D1E0F-3D09-5438-6648-59CF859928E6}"/>
              </a:ext>
            </a:extLst>
          </p:cNvPr>
          <p:cNvSpPr>
            <a:spLocks noGrp="1"/>
          </p:cNvSpPr>
          <p:nvPr>
            <p:ph sz="quarter" idx="14"/>
          </p:nvPr>
        </p:nvSpPr>
        <p:spPr>
          <a:xfrm>
            <a:off x="4968917" y="1"/>
            <a:ext cx="6249382" cy="6213762"/>
          </a:xfrm>
        </p:spPr>
        <p:txBody>
          <a:bodyPr/>
          <a:lstStyle/>
          <a:p>
            <a:r>
              <a:rPr lang="en-US" sz="1200" b="1" dirty="0"/>
              <a:t>Ridge and LASSO regression models </a:t>
            </a:r>
            <a:r>
              <a:rPr lang="en-US" sz="1200" dirty="0"/>
              <a:t>were applied to improve prediction accuracy and handle potential multicollinearity in the dataset. The Ridge model achieved an RMSE of approximately 0.715, indicating moderate prediction accuracy after coefficient shrinkage. In contrast, the LASSO model performed better, with a lower RMSE of approximately 0.478, suggesting improved predictive performance. Additionally, LASSO performed variable selection by retaining only the most important predictors, namely </a:t>
            </a:r>
            <a:r>
              <a:rPr lang="en-US" sz="1200" i="1" dirty="0"/>
              <a:t>High</a:t>
            </a:r>
            <a:r>
              <a:rPr lang="en-US" sz="1200" dirty="0"/>
              <a:t> and </a:t>
            </a:r>
            <a:r>
              <a:rPr lang="en-US" sz="1200" i="1" dirty="0"/>
              <a:t>Low</a:t>
            </a:r>
            <a:r>
              <a:rPr lang="en-US" sz="1200" dirty="0"/>
              <a:t>, while shrinking all other coefficients to zero. This indicates that these two variables are the primary drivers of the closing stock price. Overall, LASSO outperforms Ridge by producing a simpler and more interpretable model with higher accuracy, reinforcing the importance of selecting relevant variables in predictive modeling.</a:t>
            </a:r>
          </a:p>
          <a:p>
            <a:pPr marL="171450" indent="-36000">
              <a:spcBef>
                <a:spcPts val="0"/>
              </a:spcBef>
              <a:buFont typeface="Wingdings" panose="05000000000000000000" pitchFamily="2" charset="2"/>
              <a:buChar char="q"/>
            </a:pPr>
            <a:r>
              <a:rPr lang="en-US" sz="1200" dirty="0"/>
              <a:t>Best lambda ≈ 1.154 </a:t>
            </a:r>
          </a:p>
          <a:p>
            <a:pPr marL="171450" indent="-36000">
              <a:spcBef>
                <a:spcPts val="0"/>
              </a:spcBef>
              <a:buFont typeface="Wingdings" panose="05000000000000000000" pitchFamily="2" charset="2"/>
              <a:buChar char="q"/>
            </a:pPr>
            <a:r>
              <a:rPr lang="en-US" sz="1200" dirty="0"/>
              <a:t>RMSE ≈ 0.715 (moderate accuracy) </a:t>
            </a:r>
          </a:p>
          <a:p>
            <a:pPr marL="171450" indent="-36000">
              <a:spcBef>
                <a:spcPts val="0"/>
              </a:spcBef>
              <a:buFont typeface="Wingdings" panose="05000000000000000000" pitchFamily="2" charset="2"/>
              <a:buChar char="q"/>
            </a:pPr>
            <a:r>
              <a:rPr lang="en-US" sz="1200" dirty="0"/>
              <a:t>Shrinks coefficients but retains all variables </a:t>
            </a:r>
          </a:p>
          <a:p>
            <a:pPr marL="171450" indent="-36000">
              <a:spcBef>
                <a:spcPts val="0"/>
              </a:spcBef>
              <a:buFont typeface="Wingdings" panose="05000000000000000000" pitchFamily="2" charset="2"/>
              <a:buChar char="q"/>
            </a:pPr>
            <a:r>
              <a:rPr lang="en-US" sz="1200" dirty="0"/>
              <a:t>Handles multicollinearity effectively </a:t>
            </a:r>
          </a:p>
          <a:p>
            <a:pPr marL="171450" indent="-36000">
              <a:spcBef>
                <a:spcPts val="0"/>
              </a:spcBef>
              <a:buFont typeface="Wingdings" panose="05000000000000000000" pitchFamily="2" charset="2"/>
              <a:buChar char="q"/>
            </a:pPr>
            <a:r>
              <a:rPr lang="en-US" sz="1200" dirty="0"/>
              <a:t>Performance better than full regression </a:t>
            </a:r>
          </a:p>
          <a:p>
            <a:r>
              <a:rPr lang="en-US" sz="1200" b="1" dirty="0"/>
              <a:t>The KNN regression model </a:t>
            </a:r>
            <a:r>
              <a:rPr lang="en-US" sz="1200" dirty="0"/>
              <a:t>was applied to predict the closing stock price by identifying similar observations in the dataset, with the optimal number of neighbors selected as </a:t>
            </a:r>
            <a:r>
              <a:rPr lang="en-US" sz="1200" i="1" dirty="0"/>
              <a:t>k = 10</a:t>
            </a:r>
            <a:r>
              <a:rPr lang="en-US" sz="1200" dirty="0"/>
              <a:t>. However, the model exhibits poor predictive performance, as indicated by a high RMSE of approximately 11.245, suggesting large deviations between actual and predicted values. This indicates that the KNN model is not effectively capturing the underlying relationship in the data, possibly due to the presence of noise, lack of strong local patterns, or sensitivity to feature scaling and dimensionality. Compared to other models such as LASSO and subset selection, which achieved significantly lower error values, KNN performs substantially worse in this context. Therefore, it can be concluded that KNN is not suitable for this dataset, and simpler linear models with selected predictors provide more accurate and reliable results.</a:t>
            </a:r>
          </a:p>
          <a:p>
            <a:pPr marL="171450" indent="-171450">
              <a:spcBef>
                <a:spcPts val="0"/>
              </a:spcBef>
              <a:buFont typeface="Wingdings" panose="05000000000000000000" pitchFamily="2" charset="2"/>
              <a:buChar char="q"/>
            </a:pPr>
            <a:r>
              <a:rPr lang="en-US" sz="1200" dirty="0"/>
              <a:t>Best lambda ≈ 0.0759</a:t>
            </a:r>
          </a:p>
          <a:p>
            <a:pPr marL="171450" indent="-171450">
              <a:spcBef>
                <a:spcPts val="0"/>
              </a:spcBef>
              <a:buFont typeface="Wingdings" panose="05000000000000000000" pitchFamily="2" charset="2"/>
              <a:buChar char="q"/>
            </a:pPr>
            <a:r>
              <a:rPr lang="en-US" sz="1200" dirty="0"/>
              <a:t> Lowest RMSE ≈ 0.478 (best among regularization models) </a:t>
            </a:r>
          </a:p>
          <a:p>
            <a:pPr marL="171450" indent="-171450">
              <a:spcBef>
                <a:spcPts val="0"/>
              </a:spcBef>
              <a:buFont typeface="Wingdings" panose="05000000000000000000" pitchFamily="2" charset="2"/>
              <a:buChar char="q"/>
            </a:pPr>
            <a:r>
              <a:rPr lang="en-US" sz="1200" dirty="0"/>
              <a:t>Performs automatic variable selection </a:t>
            </a:r>
          </a:p>
          <a:p>
            <a:pPr marL="171450" indent="-171450">
              <a:spcBef>
                <a:spcPts val="0"/>
              </a:spcBef>
              <a:buFont typeface="Wingdings" panose="05000000000000000000" pitchFamily="2" charset="2"/>
              <a:buChar char="q"/>
            </a:pPr>
            <a:r>
              <a:rPr lang="en-US" sz="1200" dirty="0"/>
              <a:t>Selected predictors: </a:t>
            </a:r>
            <a:r>
              <a:rPr lang="en-US" sz="1200" b="1" dirty="0"/>
              <a:t>High, Low</a:t>
            </a:r>
            <a:r>
              <a:rPr lang="en-US" sz="1200" dirty="0"/>
              <a:t> </a:t>
            </a:r>
          </a:p>
          <a:p>
            <a:pPr marL="171450" indent="-171450">
              <a:spcBef>
                <a:spcPts val="0"/>
              </a:spcBef>
              <a:buFont typeface="Wingdings" panose="05000000000000000000" pitchFamily="2" charset="2"/>
              <a:buChar char="q"/>
            </a:pPr>
            <a:r>
              <a:rPr lang="en-US" sz="1200" dirty="0"/>
              <a:t>Produces simple and interpretable model</a:t>
            </a:r>
            <a:endParaRPr lang="en-IN" sz="1200" dirty="0"/>
          </a:p>
        </p:txBody>
      </p:sp>
      <p:sp>
        <p:nvSpPr>
          <p:cNvPr id="6" name="Title 5">
            <a:extLst>
              <a:ext uri="{FF2B5EF4-FFF2-40B4-BE49-F238E27FC236}">
                <a16:creationId xmlns:a16="http://schemas.microsoft.com/office/drawing/2014/main" id="{F109D8BF-8846-74B3-89FA-30E5495E55A3}"/>
              </a:ext>
            </a:extLst>
          </p:cNvPr>
          <p:cNvSpPr>
            <a:spLocks noGrp="1"/>
          </p:cNvSpPr>
          <p:nvPr>
            <p:ph type="title"/>
          </p:nvPr>
        </p:nvSpPr>
        <p:spPr>
          <a:xfrm>
            <a:off x="548647" y="0"/>
            <a:ext cx="3871623" cy="1573161"/>
          </a:xfrm>
        </p:spPr>
        <p:txBody>
          <a:bodyPr>
            <a:noAutofit/>
          </a:bodyPr>
          <a:lstStyle/>
          <a:p>
            <a:r>
              <a:rPr lang="en-US" sz="2000" u="sng" dirty="0">
                <a:solidFill>
                  <a:schemeClr val="accent1">
                    <a:lumMod val="75000"/>
                  </a:schemeClr>
                </a:solidFill>
                <a:latin typeface="Baskerville Old Face" panose="02020602080505020303" pitchFamily="18" charset="0"/>
              </a:rPr>
              <a:t>Ridge and LASSO and </a:t>
            </a:r>
            <a:r>
              <a:rPr lang="en-US" sz="2000" u="sng" dirty="0" err="1">
                <a:solidFill>
                  <a:schemeClr val="accent1">
                    <a:lumMod val="75000"/>
                  </a:schemeClr>
                </a:solidFill>
                <a:latin typeface="Baskerville Old Face" panose="02020602080505020303" pitchFamily="18" charset="0"/>
              </a:rPr>
              <a:t>knn</a:t>
            </a:r>
            <a:r>
              <a:rPr lang="en-US" sz="2000" u="sng" dirty="0">
                <a:solidFill>
                  <a:schemeClr val="accent1">
                    <a:lumMod val="75000"/>
                  </a:schemeClr>
                </a:solidFill>
                <a:latin typeface="Baskerville Old Face" panose="02020602080505020303" pitchFamily="18" charset="0"/>
              </a:rPr>
              <a:t> Regression Results and Interpretation:</a:t>
            </a:r>
            <a:endParaRPr lang="en-IN" sz="2000" u="sng" dirty="0">
              <a:solidFill>
                <a:schemeClr val="accent1">
                  <a:lumMod val="75000"/>
                </a:schemeClr>
              </a:solidFill>
              <a:latin typeface="Baskerville Old Face" panose="02020602080505020303" pitchFamily="18" charset="0"/>
            </a:endParaRPr>
          </a:p>
        </p:txBody>
      </p:sp>
      <p:pic>
        <p:nvPicPr>
          <p:cNvPr id="14" name="Picture 13">
            <a:extLst>
              <a:ext uri="{FF2B5EF4-FFF2-40B4-BE49-F238E27FC236}">
                <a16:creationId xmlns:a16="http://schemas.microsoft.com/office/drawing/2014/main" id="{4AAED71B-75DB-DF69-5A87-FCC2513F405B}"/>
              </a:ext>
            </a:extLst>
          </p:cNvPr>
          <p:cNvPicPr>
            <a:picLocks noChangeAspect="1"/>
          </p:cNvPicPr>
          <p:nvPr/>
        </p:nvPicPr>
        <p:blipFill>
          <a:blip r:embed="rId2"/>
          <a:stretch>
            <a:fillRect/>
          </a:stretch>
        </p:blipFill>
        <p:spPr>
          <a:xfrm>
            <a:off x="457666" y="1573160"/>
            <a:ext cx="3962603" cy="4640601"/>
          </a:xfrm>
          <a:prstGeom prst="rect">
            <a:avLst/>
          </a:prstGeom>
        </p:spPr>
      </p:pic>
    </p:spTree>
    <p:extLst>
      <p:ext uri="{BB962C8B-B14F-4D97-AF65-F5344CB8AC3E}">
        <p14:creationId xmlns:p14="http://schemas.microsoft.com/office/powerpoint/2010/main" val="28310338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93E3668-BABE-30D3-C606-E8967588DDAD}"/>
              </a:ext>
            </a:extLst>
          </p:cNvPr>
          <p:cNvSpPr>
            <a:spLocks noGrp="1"/>
          </p:cNvSpPr>
          <p:nvPr>
            <p:ph type="dt" sz="half" idx="10"/>
          </p:nvPr>
        </p:nvSpPr>
        <p:spPr/>
        <p:txBody>
          <a:bodyPr/>
          <a:lstStyle/>
          <a:p>
            <a:fld id="{D73859A7-84EB-4384-87AF-59CC16704CF8}" type="datetime1">
              <a:rPr lang="en-US" smtClean="0"/>
              <a:t>5/6/2026</a:t>
            </a:fld>
            <a:endParaRPr lang="en-US" dirty="0"/>
          </a:p>
        </p:txBody>
      </p:sp>
      <p:sp>
        <p:nvSpPr>
          <p:cNvPr id="4" name="Slide Number Placeholder 3">
            <a:extLst>
              <a:ext uri="{FF2B5EF4-FFF2-40B4-BE49-F238E27FC236}">
                <a16:creationId xmlns:a16="http://schemas.microsoft.com/office/drawing/2014/main" id="{C101335B-5B1B-6AE3-2A59-D1067B8042B4}"/>
              </a:ext>
            </a:extLst>
          </p:cNvPr>
          <p:cNvSpPr>
            <a:spLocks noGrp="1"/>
          </p:cNvSpPr>
          <p:nvPr>
            <p:ph type="sldNum" sz="quarter" idx="12"/>
          </p:nvPr>
        </p:nvSpPr>
        <p:spPr/>
        <p:txBody>
          <a:bodyPr/>
          <a:lstStyle/>
          <a:p>
            <a:fld id="{CC057153-B650-4DEB-B370-79DDCFDCE934}" type="slidenum">
              <a:rPr lang="en-US" smtClean="0"/>
              <a:t>13</a:t>
            </a:fld>
            <a:endParaRPr lang="en-US" dirty="0"/>
          </a:p>
        </p:txBody>
      </p:sp>
      <p:sp>
        <p:nvSpPr>
          <p:cNvPr id="6" name="Title 5">
            <a:extLst>
              <a:ext uri="{FF2B5EF4-FFF2-40B4-BE49-F238E27FC236}">
                <a16:creationId xmlns:a16="http://schemas.microsoft.com/office/drawing/2014/main" id="{BAEAA4B1-5527-5256-0BD9-95176C2895F5}"/>
              </a:ext>
            </a:extLst>
          </p:cNvPr>
          <p:cNvSpPr>
            <a:spLocks noGrp="1"/>
          </p:cNvSpPr>
          <p:nvPr>
            <p:ph type="title"/>
          </p:nvPr>
        </p:nvSpPr>
        <p:spPr>
          <a:xfrm>
            <a:off x="1" y="0"/>
            <a:ext cx="4420270" cy="2032000"/>
          </a:xfrm>
        </p:spPr>
        <p:txBody>
          <a:bodyPr>
            <a:noAutofit/>
          </a:bodyPr>
          <a:lstStyle/>
          <a:p>
            <a:br>
              <a:rPr lang="en-US" sz="2400" u="sng" dirty="0">
                <a:solidFill>
                  <a:schemeClr val="accent1">
                    <a:lumMod val="75000"/>
                  </a:schemeClr>
                </a:solidFill>
                <a:latin typeface="Baskerville Old Face" panose="02020602080505020303" pitchFamily="18" charset="0"/>
              </a:rPr>
            </a:br>
            <a:r>
              <a:rPr lang="en-US" sz="2400" u="sng" dirty="0">
                <a:solidFill>
                  <a:schemeClr val="accent1">
                    <a:lumMod val="75000"/>
                  </a:schemeClr>
                </a:solidFill>
                <a:latin typeface="Baskerville Old Face" panose="02020602080505020303" pitchFamily="18" charset="0"/>
              </a:rPr>
              <a:t>Logistic Regression Results and Classification Performance:</a:t>
            </a:r>
            <a:endParaRPr lang="en-IN" sz="2400" u="sng" dirty="0">
              <a:solidFill>
                <a:schemeClr val="accent1">
                  <a:lumMod val="75000"/>
                </a:schemeClr>
              </a:solidFill>
              <a:latin typeface="Baskerville Old Face" panose="02020602080505020303" pitchFamily="18" charset="0"/>
            </a:endParaRPr>
          </a:p>
        </p:txBody>
      </p:sp>
      <p:sp>
        <p:nvSpPr>
          <p:cNvPr id="9" name="Picture Placeholder 8">
            <a:extLst>
              <a:ext uri="{FF2B5EF4-FFF2-40B4-BE49-F238E27FC236}">
                <a16:creationId xmlns:a16="http://schemas.microsoft.com/office/drawing/2014/main" id="{0413387F-9E7B-DDDA-F599-F4A8B04A5E2E}"/>
              </a:ext>
            </a:extLst>
          </p:cNvPr>
          <p:cNvSpPr>
            <a:spLocks noGrp="1"/>
          </p:cNvSpPr>
          <p:nvPr>
            <p:ph type="pic" sz="quarter" idx="13"/>
          </p:nvPr>
        </p:nvSpPr>
        <p:spPr/>
      </p:sp>
      <p:sp>
        <p:nvSpPr>
          <p:cNvPr id="12" name="Content Placeholder 11">
            <a:extLst>
              <a:ext uri="{FF2B5EF4-FFF2-40B4-BE49-F238E27FC236}">
                <a16:creationId xmlns:a16="http://schemas.microsoft.com/office/drawing/2014/main" id="{ACB400FE-2E3C-4C9A-FC3F-313A29A57790}"/>
              </a:ext>
            </a:extLst>
          </p:cNvPr>
          <p:cNvSpPr>
            <a:spLocks noGrp="1"/>
          </p:cNvSpPr>
          <p:nvPr>
            <p:ph sz="quarter" idx="14"/>
          </p:nvPr>
        </p:nvSpPr>
        <p:spPr>
          <a:xfrm>
            <a:off x="5113043" y="1"/>
            <a:ext cx="6249382" cy="6213762"/>
          </a:xfrm>
        </p:spPr>
        <p:txBody>
          <a:bodyPr/>
          <a:lstStyle/>
          <a:p>
            <a:r>
              <a:rPr lang="en-US" sz="1400" dirty="0"/>
              <a:t>The logistic regression model was used to classify stock trends as bullish or non-bullish based on variables such as volume, PE ratio, volatility, and sentiment score. The results indicate that none of the predictor variables are statistically significant (p &gt; 0.05), suggesting that these features do not have a strong influence on the classification of stock trends. The model performance is relatively poor, with an accuracy of 42% and an AUC of approximately 0.52, which is only slightly better than random guessing. Additionally, the confusion matrix shows a high number of misclassifications, indicating that the model struggles to distinguish between bullish and non-bullish cases. Overall, the logistic regression model fails to effectively capture the underlying pattern in the data, suggesting that the relationship between predictors and stock trends may be weak or non-linear.</a:t>
            </a:r>
          </a:p>
          <a:p>
            <a:pPr marL="285750" indent="-285750">
              <a:spcBef>
                <a:spcPts val="0"/>
              </a:spcBef>
              <a:buFont typeface="Wingdings" panose="05000000000000000000" pitchFamily="2" charset="2"/>
              <a:buChar char="q"/>
            </a:pPr>
            <a:r>
              <a:rPr lang="en-US" sz="1400" dirty="0"/>
              <a:t>No significant predictors (p &gt; 0.05) </a:t>
            </a:r>
          </a:p>
          <a:p>
            <a:pPr marL="285750" indent="-285750">
              <a:spcBef>
                <a:spcPts val="0"/>
              </a:spcBef>
              <a:buFont typeface="Wingdings" panose="05000000000000000000" pitchFamily="2" charset="2"/>
              <a:buChar char="q"/>
            </a:pPr>
            <a:r>
              <a:rPr lang="en-US" sz="1400" dirty="0"/>
              <a:t>Accuracy ≈ 42% (low)</a:t>
            </a:r>
          </a:p>
          <a:p>
            <a:pPr marL="285750" indent="-285750">
              <a:spcBef>
                <a:spcPts val="0"/>
              </a:spcBef>
              <a:buFont typeface="Wingdings" panose="05000000000000000000" pitchFamily="2" charset="2"/>
              <a:buChar char="q"/>
            </a:pPr>
            <a:r>
              <a:rPr lang="en-US" sz="1400" dirty="0"/>
              <a:t> AUC ≈ 0.52 (near random)</a:t>
            </a:r>
          </a:p>
          <a:p>
            <a:pPr marL="285750" indent="-285750">
              <a:spcBef>
                <a:spcPts val="0"/>
              </a:spcBef>
              <a:buFont typeface="Wingdings" panose="05000000000000000000" pitchFamily="2" charset="2"/>
              <a:buChar char="q"/>
            </a:pPr>
            <a:r>
              <a:rPr lang="en-US" sz="1400" dirty="0"/>
              <a:t> High misclassification in confusion matrix</a:t>
            </a:r>
            <a:endParaRPr lang="en-IN" sz="1400" dirty="0"/>
          </a:p>
        </p:txBody>
      </p:sp>
      <p:pic>
        <p:nvPicPr>
          <p:cNvPr id="13" name="Picture 12">
            <a:extLst>
              <a:ext uri="{FF2B5EF4-FFF2-40B4-BE49-F238E27FC236}">
                <a16:creationId xmlns:a16="http://schemas.microsoft.com/office/drawing/2014/main" id="{25A14932-832F-F3F3-8093-F26D5C78F330}"/>
              </a:ext>
            </a:extLst>
          </p:cNvPr>
          <p:cNvPicPr>
            <a:picLocks noChangeAspect="1"/>
          </p:cNvPicPr>
          <p:nvPr/>
        </p:nvPicPr>
        <p:blipFill>
          <a:blip r:embed="rId2"/>
          <a:stretch>
            <a:fillRect/>
          </a:stretch>
        </p:blipFill>
        <p:spPr>
          <a:xfrm>
            <a:off x="111692" y="2346960"/>
            <a:ext cx="4564393" cy="4485510"/>
          </a:xfrm>
          <a:prstGeom prst="rect">
            <a:avLst/>
          </a:prstGeom>
        </p:spPr>
      </p:pic>
      <p:pic>
        <p:nvPicPr>
          <p:cNvPr id="15" name="Picture 14">
            <a:extLst>
              <a:ext uri="{FF2B5EF4-FFF2-40B4-BE49-F238E27FC236}">
                <a16:creationId xmlns:a16="http://schemas.microsoft.com/office/drawing/2014/main" id="{466621A4-681B-376C-73C6-F8714A592C1B}"/>
              </a:ext>
            </a:extLst>
          </p:cNvPr>
          <p:cNvPicPr>
            <a:picLocks noChangeAspect="1"/>
          </p:cNvPicPr>
          <p:nvPr/>
        </p:nvPicPr>
        <p:blipFill>
          <a:blip r:embed="rId3"/>
          <a:stretch>
            <a:fillRect/>
          </a:stretch>
        </p:blipFill>
        <p:spPr>
          <a:xfrm>
            <a:off x="5022472" y="3429001"/>
            <a:ext cx="5188327" cy="3403469"/>
          </a:xfrm>
          <a:prstGeom prst="rect">
            <a:avLst/>
          </a:prstGeom>
        </p:spPr>
      </p:pic>
    </p:spTree>
    <p:extLst>
      <p:ext uri="{BB962C8B-B14F-4D97-AF65-F5344CB8AC3E}">
        <p14:creationId xmlns:p14="http://schemas.microsoft.com/office/powerpoint/2010/main" val="994092465"/>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B6777F5-6819-6A08-59A4-14326DA35881}"/>
              </a:ext>
            </a:extLst>
          </p:cNvPr>
          <p:cNvSpPr>
            <a:spLocks noGrp="1"/>
          </p:cNvSpPr>
          <p:nvPr>
            <p:ph type="dt" sz="half" idx="10"/>
          </p:nvPr>
        </p:nvSpPr>
        <p:spPr/>
        <p:txBody>
          <a:bodyPr/>
          <a:lstStyle/>
          <a:p>
            <a:fld id="{D73859A7-84EB-4384-87AF-59CC16704CF8}" type="datetime1">
              <a:rPr lang="en-US" smtClean="0"/>
              <a:t>5/6/2026</a:t>
            </a:fld>
            <a:endParaRPr lang="en-US" dirty="0"/>
          </a:p>
        </p:txBody>
      </p:sp>
      <p:sp>
        <p:nvSpPr>
          <p:cNvPr id="4" name="Slide Number Placeholder 3">
            <a:extLst>
              <a:ext uri="{FF2B5EF4-FFF2-40B4-BE49-F238E27FC236}">
                <a16:creationId xmlns:a16="http://schemas.microsoft.com/office/drawing/2014/main" id="{B1D440E5-AC24-AF65-1E98-F4528FFD400A}"/>
              </a:ext>
            </a:extLst>
          </p:cNvPr>
          <p:cNvSpPr>
            <a:spLocks noGrp="1"/>
          </p:cNvSpPr>
          <p:nvPr>
            <p:ph type="sldNum" sz="quarter" idx="12"/>
          </p:nvPr>
        </p:nvSpPr>
        <p:spPr/>
        <p:txBody>
          <a:bodyPr/>
          <a:lstStyle/>
          <a:p>
            <a:fld id="{CC057153-B650-4DEB-B370-79DDCFDCE934}" type="slidenum">
              <a:rPr lang="en-US" smtClean="0"/>
              <a:t>14</a:t>
            </a:fld>
            <a:endParaRPr lang="en-US" dirty="0"/>
          </a:p>
        </p:txBody>
      </p:sp>
      <p:sp>
        <p:nvSpPr>
          <p:cNvPr id="5" name="Content Placeholder 4">
            <a:extLst>
              <a:ext uri="{FF2B5EF4-FFF2-40B4-BE49-F238E27FC236}">
                <a16:creationId xmlns:a16="http://schemas.microsoft.com/office/drawing/2014/main" id="{1E407985-4076-FE19-3752-D019E215DD91}"/>
              </a:ext>
            </a:extLst>
          </p:cNvPr>
          <p:cNvSpPr>
            <a:spLocks noGrp="1"/>
          </p:cNvSpPr>
          <p:nvPr>
            <p:ph sz="quarter" idx="14"/>
          </p:nvPr>
        </p:nvSpPr>
        <p:spPr/>
        <p:txBody>
          <a:bodyPr/>
          <a:lstStyle/>
          <a:p>
            <a:r>
              <a:rPr lang="en-US" sz="1400" dirty="0"/>
              <a:t>The Linear Discriminant Analysis (LDA) model was applied to classify stock trends into bearish, bullish, and stable categories using financial and sentiment-based predictors. The confusion matrix indicates a high level of misclassification across all three classes, with no clear dominance in correct predictions. The overall accuracy of the model is approximately 32.33%, which is quite low and suggests that the model performs poorly in distinguishing between different trend categories. This indicates that the predictors used do not provide sufficient discriminatory power, and the assumption of linear separability required by LDA is likely not satisfied. Overall, the LDA model fails to effectively capture the underlying patterns in the data and is not suitable for this classification task.</a:t>
            </a:r>
          </a:p>
          <a:p>
            <a:br>
              <a:rPr lang="en-US" sz="1400" dirty="0"/>
            </a:br>
            <a:r>
              <a:rPr lang="en-US" sz="1400" b="1" dirty="0"/>
              <a:t>Key Points :-</a:t>
            </a:r>
          </a:p>
          <a:p>
            <a:pPr marL="285750" indent="-285750">
              <a:buFont typeface="Wingdings" panose="05000000000000000000" pitchFamily="2" charset="2"/>
              <a:buChar char="q"/>
            </a:pPr>
            <a:r>
              <a:rPr lang="en-US" sz="1400" dirty="0"/>
              <a:t>Accuracy ≈ </a:t>
            </a:r>
            <a:r>
              <a:rPr lang="en-US" sz="1400" b="1" dirty="0"/>
              <a:t>32.33% (low)</a:t>
            </a:r>
            <a:r>
              <a:rPr lang="en-US" sz="1400" dirty="0"/>
              <a:t> </a:t>
            </a:r>
          </a:p>
          <a:p>
            <a:pPr marL="285750" indent="-285750">
              <a:buFont typeface="Wingdings" panose="05000000000000000000" pitchFamily="2" charset="2"/>
              <a:buChar char="q"/>
            </a:pPr>
            <a:r>
              <a:rPr lang="en-US" sz="1400" dirty="0"/>
              <a:t>High misclassification across all classes </a:t>
            </a:r>
          </a:p>
          <a:p>
            <a:pPr marL="285750" indent="-285750">
              <a:buFont typeface="Wingdings" panose="05000000000000000000" pitchFamily="2" charset="2"/>
              <a:buChar char="q"/>
            </a:pPr>
            <a:r>
              <a:rPr lang="en-US" sz="1400" dirty="0"/>
              <a:t>Poor class separation </a:t>
            </a:r>
          </a:p>
          <a:p>
            <a:pPr marL="285750" indent="-285750">
              <a:buFont typeface="Wingdings" panose="05000000000000000000" pitchFamily="2" charset="2"/>
              <a:buChar char="q"/>
            </a:pPr>
            <a:r>
              <a:rPr lang="en-US" sz="1400" dirty="0"/>
              <a:t>Weak predictive performance</a:t>
            </a:r>
          </a:p>
          <a:p>
            <a:endParaRPr lang="en-IN" sz="1800" dirty="0">
              <a:latin typeface="Baskerville Old Face" panose="02020602080505020303" pitchFamily="18" charset="0"/>
            </a:endParaRPr>
          </a:p>
        </p:txBody>
      </p:sp>
      <p:sp>
        <p:nvSpPr>
          <p:cNvPr id="6" name="Title 5">
            <a:extLst>
              <a:ext uri="{FF2B5EF4-FFF2-40B4-BE49-F238E27FC236}">
                <a16:creationId xmlns:a16="http://schemas.microsoft.com/office/drawing/2014/main" id="{668B45C6-5626-8694-2C73-07EC83030DF2}"/>
              </a:ext>
            </a:extLst>
          </p:cNvPr>
          <p:cNvSpPr>
            <a:spLocks noGrp="1"/>
          </p:cNvSpPr>
          <p:nvPr>
            <p:ph type="title"/>
          </p:nvPr>
        </p:nvSpPr>
        <p:spPr>
          <a:xfrm>
            <a:off x="344129" y="393291"/>
            <a:ext cx="4076141" cy="2379406"/>
          </a:xfrm>
        </p:spPr>
        <p:txBody>
          <a:bodyPr>
            <a:noAutofit/>
          </a:bodyPr>
          <a:lstStyle/>
          <a:p>
            <a:r>
              <a:rPr lang="en-IN" sz="2400" u="sng" dirty="0">
                <a:solidFill>
                  <a:schemeClr val="accent1">
                    <a:lumMod val="75000"/>
                  </a:schemeClr>
                </a:solidFill>
                <a:latin typeface="Baskerville Old Face" panose="02020602080505020303" pitchFamily="18" charset="0"/>
              </a:rPr>
              <a:t>Linear Discriminant Analysis (LDA) Results and Interpretation:</a:t>
            </a:r>
          </a:p>
        </p:txBody>
      </p:sp>
      <p:pic>
        <p:nvPicPr>
          <p:cNvPr id="14" name="Picture 13">
            <a:extLst>
              <a:ext uri="{FF2B5EF4-FFF2-40B4-BE49-F238E27FC236}">
                <a16:creationId xmlns:a16="http://schemas.microsoft.com/office/drawing/2014/main" id="{D8A39323-9F8A-7611-BEB2-820A9F186F65}"/>
              </a:ext>
            </a:extLst>
          </p:cNvPr>
          <p:cNvPicPr>
            <a:picLocks noChangeAspect="1"/>
          </p:cNvPicPr>
          <p:nvPr/>
        </p:nvPicPr>
        <p:blipFill>
          <a:blip r:embed="rId2"/>
          <a:stretch>
            <a:fillRect/>
          </a:stretch>
        </p:blipFill>
        <p:spPr>
          <a:xfrm>
            <a:off x="548647" y="2772697"/>
            <a:ext cx="3871623" cy="2379406"/>
          </a:xfrm>
          <a:prstGeom prst="rect">
            <a:avLst/>
          </a:prstGeom>
        </p:spPr>
      </p:pic>
    </p:spTree>
    <p:extLst>
      <p:ext uri="{BB962C8B-B14F-4D97-AF65-F5344CB8AC3E}">
        <p14:creationId xmlns:p14="http://schemas.microsoft.com/office/powerpoint/2010/main" val="59316736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C0F1F-4AA2-8D9D-0B5A-121797D3D9C0}"/>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D90566CA-BAB8-07B7-7210-4830AC6EE378}"/>
              </a:ext>
            </a:extLst>
          </p:cNvPr>
          <p:cNvSpPr>
            <a:spLocks noGrp="1"/>
          </p:cNvSpPr>
          <p:nvPr>
            <p:ph type="dt" sz="half" idx="10"/>
          </p:nvPr>
        </p:nvSpPr>
        <p:spPr/>
        <p:txBody>
          <a:bodyPr/>
          <a:lstStyle/>
          <a:p>
            <a:fld id="{D73859A7-84EB-4384-87AF-59CC16704CF8}" type="datetime1">
              <a:rPr lang="en-US" smtClean="0"/>
              <a:t>5/7/2026</a:t>
            </a:fld>
            <a:endParaRPr lang="en-US" dirty="0"/>
          </a:p>
        </p:txBody>
      </p:sp>
      <p:sp>
        <p:nvSpPr>
          <p:cNvPr id="4" name="Slide Number Placeholder 3">
            <a:extLst>
              <a:ext uri="{FF2B5EF4-FFF2-40B4-BE49-F238E27FC236}">
                <a16:creationId xmlns:a16="http://schemas.microsoft.com/office/drawing/2014/main" id="{D696D5EF-0DBE-3262-50E9-2F422D8C905F}"/>
              </a:ext>
            </a:extLst>
          </p:cNvPr>
          <p:cNvSpPr>
            <a:spLocks noGrp="1"/>
          </p:cNvSpPr>
          <p:nvPr>
            <p:ph type="sldNum" sz="quarter" idx="12"/>
          </p:nvPr>
        </p:nvSpPr>
        <p:spPr/>
        <p:txBody>
          <a:bodyPr/>
          <a:lstStyle/>
          <a:p>
            <a:fld id="{CC057153-B650-4DEB-B370-79DDCFDCE934}" type="slidenum">
              <a:rPr lang="en-US" smtClean="0"/>
              <a:t>15</a:t>
            </a:fld>
            <a:endParaRPr lang="en-US" dirty="0"/>
          </a:p>
        </p:txBody>
      </p:sp>
      <p:sp>
        <p:nvSpPr>
          <p:cNvPr id="5" name="Content Placeholder 4">
            <a:extLst>
              <a:ext uri="{FF2B5EF4-FFF2-40B4-BE49-F238E27FC236}">
                <a16:creationId xmlns:a16="http://schemas.microsoft.com/office/drawing/2014/main" id="{F55941B2-5AE6-5180-DFBB-CB42706AE115}"/>
              </a:ext>
            </a:extLst>
          </p:cNvPr>
          <p:cNvSpPr>
            <a:spLocks noGrp="1"/>
          </p:cNvSpPr>
          <p:nvPr>
            <p:ph sz="quarter" idx="14"/>
          </p:nvPr>
        </p:nvSpPr>
        <p:spPr>
          <a:xfrm>
            <a:off x="4968917" y="285135"/>
            <a:ext cx="6249382" cy="6302478"/>
          </a:xfrm>
        </p:spPr>
        <p:txBody>
          <a:bodyPr/>
          <a:lstStyle/>
          <a:p>
            <a:r>
              <a:rPr lang="en-US" sz="1200" dirty="0"/>
              <a:t>The KNN classification model was applied to classify stock trends into bearish, bullish, and stable categories using a neighborhood-based approach. The results show an overall accuracy of approximately 32.67%, which is relatively low and indicates poor classification performance. The confusion matrix reveals a high level of misclassification across all three classes, with no category being clearly predicted with high accuracy. This suggests that the model struggles to identify clear boundaries between the classes, likely due to overlapping patterns in the data or lack of strong distinguishing features. Additionally, KNN is sensitive to data scaling and dimensionality, which may further affect its performance. Overall, the KNN classification model is not effective for this dataset and fails to reliably predict stock trend categories.</a:t>
            </a:r>
            <a:br>
              <a:rPr lang="en-US" sz="1400" dirty="0"/>
            </a:br>
            <a:r>
              <a:rPr lang="en-US" sz="1200" b="1" dirty="0"/>
              <a:t>Key Points:-</a:t>
            </a:r>
          </a:p>
          <a:p>
            <a:pPr marL="285750" indent="-285750">
              <a:spcBef>
                <a:spcPts val="0"/>
              </a:spcBef>
              <a:buFont typeface="Wingdings" panose="05000000000000000000" pitchFamily="2" charset="2"/>
              <a:buChar char="q"/>
            </a:pPr>
            <a:r>
              <a:rPr lang="en-US" sz="1200" dirty="0"/>
              <a:t>Accuracy ≈ </a:t>
            </a:r>
            <a:r>
              <a:rPr lang="en-US" sz="1200" b="1" dirty="0"/>
              <a:t>32.67% (low)</a:t>
            </a:r>
            <a:r>
              <a:rPr lang="en-US" sz="1200" dirty="0"/>
              <a:t> </a:t>
            </a:r>
          </a:p>
          <a:p>
            <a:pPr marL="285750" indent="-285750">
              <a:spcBef>
                <a:spcPts val="0"/>
              </a:spcBef>
              <a:buFont typeface="Wingdings" panose="05000000000000000000" pitchFamily="2" charset="2"/>
              <a:buChar char="q"/>
            </a:pPr>
            <a:r>
              <a:rPr lang="en-US" sz="1200" dirty="0"/>
              <a:t>High misclassification across all classes </a:t>
            </a:r>
          </a:p>
          <a:p>
            <a:pPr marL="285750" indent="-285750">
              <a:spcBef>
                <a:spcPts val="0"/>
              </a:spcBef>
              <a:buFont typeface="Wingdings" panose="05000000000000000000" pitchFamily="2" charset="2"/>
              <a:buChar char="q"/>
            </a:pPr>
            <a:r>
              <a:rPr lang="en-US" sz="1200" dirty="0"/>
              <a:t>Poor class separation </a:t>
            </a:r>
          </a:p>
          <a:p>
            <a:pPr marL="285750" indent="-285750">
              <a:spcBef>
                <a:spcPts val="0"/>
              </a:spcBef>
              <a:buFont typeface="Wingdings" panose="05000000000000000000" pitchFamily="2" charset="2"/>
              <a:buChar char="q"/>
            </a:pPr>
            <a:r>
              <a:rPr lang="en-US" sz="1200" dirty="0"/>
              <a:t>Sensitive to data structure and noise</a:t>
            </a:r>
          </a:p>
          <a:p>
            <a:r>
              <a:rPr lang="en-US" sz="1200" dirty="0"/>
              <a:t>Both Linear Discriminant Analysis (LDA) and KNN classification models were applied to classify stock trends into bearish, bullish, and stable categories. The results show that both models perform poorly, with accuracies of approximately 32.33% for LDA and 32.67% for KNN. The confusion matrices indicate a high level of misclassification across all classes, suggesting that neither model is able to effectively distinguish between different trend categories. This poor performance indicates that the predictors used do not provide strong discriminatory power, and that the relationship between variables and stock trends may be complex or non-linear. Overall, both LDA and KNN fail to provide reliable classification results for this dataset.</a:t>
            </a:r>
            <a:br>
              <a:rPr lang="en-US" sz="1400" dirty="0"/>
            </a:br>
            <a:r>
              <a:rPr lang="en-US" sz="1200" b="1" dirty="0"/>
              <a:t>Key Points:-</a:t>
            </a:r>
            <a:endParaRPr lang="en-US" sz="1200" dirty="0"/>
          </a:p>
          <a:p>
            <a:pPr marL="171450" indent="-171450">
              <a:spcBef>
                <a:spcPts val="0"/>
              </a:spcBef>
              <a:buFont typeface="Wingdings" panose="05000000000000000000" pitchFamily="2" charset="2"/>
              <a:buChar char="q"/>
            </a:pPr>
            <a:r>
              <a:rPr lang="en-US" sz="1200" b="1" dirty="0"/>
              <a:t>LDA Accuracy:</a:t>
            </a:r>
            <a:r>
              <a:rPr lang="en-US" sz="1200" dirty="0"/>
              <a:t> ~32.33%</a:t>
            </a:r>
          </a:p>
          <a:p>
            <a:pPr marL="171450" indent="-171450">
              <a:spcBef>
                <a:spcPts val="0"/>
              </a:spcBef>
              <a:buFont typeface="Wingdings" panose="05000000000000000000" pitchFamily="2" charset="2"/>
              <a:buChar char="q"/>
            </a:pPr>
            <a:r>
              <a:rPr lang="en-US" sz="1200" dirty="0"/>
              <a:t> </a:t>
            </a:r>
            <a:r>
              <a:rPr lang="en-US" sz="1200" b="1" dirty="0"/>
              <a:t>KNN Accuracy:</a:t>
            </a:r>
            <a:r>
              <a:rPr lang="en-US" sz="1200" dirty="0"/>
              <a:t> ~32.67%</a:t>
            </a:r>
          </a:p>
          <a:p>
            <a:pPr marL="171450" indent="-171450">
              <a:spcBef>
                <a:spcPts val="0"/>
              </a:spcBef>
              <a:buFont typeface="Wingdings" panose="05000000000000000000" pitchFamily="2" charset="2"/>
              <a:buChar char="q"/>
            </a:pPr>
            <a:r>
              <a:rPr lang="en-US" sz="1200" dirty="0"/>
              <a:t> Both show </a:t>
            </a:r>
            <a:r>
              <a:rPr lang="en-US" sz="1200" b="1" dirty="0"/>
              <a:t>high misclassification</a:t>
            </a:r>
            <a:r>
              <a:rPr lang="en-US" sz="1200" dirty="0"/>
              <a:t> </a:t>
            </a:r>
          </a:p>
          <a:p>
            <a:pPr marL="171450" indent="-171450">
              <a:spcBef>
                <a:spcPts val="0"/>
              </a:spcBef>
              <a:buFont typeface="Wingdings" panose="05000000000000000000" pitchFamily="2" charset="2"/>
              <a:buChar char="q"/>
            </a:pPr>
            <a:r>
              <a:rPr lang="en-US" sz="1200" dirty="0"/>
              <a:t>No clear class separation KNN slightly better but still weak</a:t>
            </a:r>
            <a:endParaRPr lang="en-IN" sz="1200" dirty="0">
              <a:latin typeface="Baskerville Old Face" panose="02020602080505020303" pitchFamily="18" charset="0"/>
            </a:endParaRPr>
          </a:p>
        </p:txBody>
      </p:sp>
      <p:sp>
        <p:nvSpPr>
          <p:cNvPr id="6" name="Title 5">
            <a:extLst>
              <a:ext uri="{FF2B5EF4-FFF2-40B4-BE49-F238E27FC236}">
                <a16:creationId xmlns:a16="http://schemas.microsoft.com/office/drawing/2014/main" id="{15A26E59-D3BD-2FF9-8FA1-FF89A29086A8}"/>
              </a:ext>
            </a:extLst>
          </p:cNvPr>
          <p:cNvSpPr>
            <a:spLocks noGrp="1"/>
          </p:cNvSpPr>
          <p:nvPr>
            <p:ph type="title"/>
          </p:nvPr>
        </p:nvSpPr>
        <p:spPr>
          <a:xfrm>
            <a:off x="383458" y="285135"/>
            <a:ext cx="4385187" cy="2487562"/>
          </a:xfrm>
        </p:spPr>
        <p:txBody>
          <a:bodyPr>
            <a:noAutofit/>
          </a:bodyPr>
          <a:lstStyle/>
          <a:p>
            <a:r>
              <a:rPr lang="en-US" sz="2400" u="sng" dirty="0">
                <a:solidFill>
                  <a:schemeClr val="accent1">
                    <a:lumMod val="75000"/>
                  </a:schemeClr>
                </a:solidFill>
                <a:latin typeface="Baskerville Old Face" panose="02020602080505020303" pitchFamily="18" charset="0"/>
              </a:rPr>
              <a:t>KNN Classification Results and Interpretation:</a:t>
            </a:r>
            <a:endParaRPr lang="en-IN" sz="2400" u="sng" dirty="0">
              <a:solidFill>
                <a:schemeClr val="accent1">
                  <a:lumMod val="75000"/>
                </a:schemeClr>
              </a:solidFill>
              <a:latin typeface="Baskerville Old Face" panose="02020602080505020303" pitchFamily="18" charset="0"/>
            </a:endParaRPr>
          </a:p>
        </p:txBody>
      </p:sp>
      <p:pic>
        <p:nvPicPr>
          <p:cNvPr id="7" name="Picture 6">
            <a:extLst>
              <a:ext uri="{FF2B5EF4-FFF2-40B4-BE49-F238E27FC236}">
                <a16:creationId xmlns:a16="http://schemas.microsoft.com/office/drawing/2014/main" id="{1E1F64DF-FE06-B197-CE20-06D22F4FAEBC}"/>
              </a:ext>
            </a:extLst>
          </p:cNvPr>
          <p:cNvPicPr>
            <a:picLocks noChangeAspect="1"/>
          </p:cNvPicPr>
          <p:nvPr/>
        </p:nvPicPr>
        <p:blipFill>
          <a:blip r:embed="rId2"/>
          <a:stretch>
            <a:fillRect/>
          </a:stretch>
        </p:blipFill>
        <p:spPr>
          <a:xfrm>
            <a:off x="562518" y="2615381"/>
            <a:ext cx="4103446" cy="2487562"/>
          </a:xfrm>
          <a:prstGeom prst="rect">
            <a:avLst/>
          </a:prstGeom>
        </p:spPr>
      </p:pic>
    </p:spTree>
    <p:extLst>
      <p:ext uri="{BB962C8B-B14F-4D97-AF65-F5344CB8AC3E}">
        <p14:creationId xmlns:p14="http://schemas.microsoft.com/office/powerpoint/2010/main" val="2395738173"/>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772CC0-A365-8B67-EA9E-C84F5A5F798A}"/>
              </a:ext>
            </a:extLst>
          </p:cNvPr>
          <p:cNvSpPr>
            <a:spLocks noGrp="1"/>
          </p:cNvSpPr>
          <p:nvPr>
            <p:ph type="title"/>
          </p:nvPr>
        </p:nvSpPr>
        <p:spPr>
          <a:xfrm>
            <a:off x="548648" y="235973"/>
            <a:ext cx="4317028" cy="1602660"/>
          </a:xfrm>
        </p:spPr>
        <p:txBody>
          <a:bodyPr/>
          <a:lstStyle/>
          <a:p>
            <a:r>
              <a:rPr lang="en-US" sz="2800" u="sng" dirty="0">
                <a:solidFill>
                  <a:schemeClr val="accent1">
                    <a:lumMod val="75000"/>
                  </a:schemeClr>
                </a:solidFill>
                <a:latin typeface="Baskerville Old Face" panose="02020602080505020303" pitchFamily="18" charset="0"/>
              </a:rPr>
              <a:t>Final Model Comparison and Key Findings:</a:t>
            </a:r>
          </a:p>
        </p:txBody>
      </p:sp>
      <p:pic>
        <p:nvPicPr>
          <p:cNvPr id="8" name="Picture Placeholder 7" descr="A low angle view of tall buildings">
            <a:extLst>
              <a:ext uri="{FF2B5EF4-FFF2-40B4-BE49-F238E27FC236}">
                <a16:creationId xmlns:a16="http://schemas.microsoft.com/office/drawing/2014/main" id="{D24D9590-5A4E-FE7F-83D6-3CBCB27BACFC}"/>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p:blipFill>
        <p:spPr>
          <a:xfrm>
            <a:off x="0" y="3159126"/>
            <a:ext cx="4577463" cy="3698875"/>
          </a:xfrm>
        </p:spPr>
      </p:pic>
      <p:sp>
        <p:nvSpPr>
          <p:cNvPr id="6" name="Content Placeholder 5">
            <a:extLst>
              <a:ext uri="{FF2B5EF4-FFF2-40B4-BE49-F238E27FC236}">
                <a16:creationId xmlns:a16="http://schemas.microsoft.com/office/drawing/2014/main" id="{5469D249-34C3-C482-7691-9B2D9A143F3A}"/>
              </a:ext>
            </a:extLst>
          </p:cNvPr>
          <p:cNvSpPr>
            <a:spLocks noGrp="1"/>
          </p:cNvSpPr>
          <p:nvPr>
            <p:ph sz="quarter" idx="16"/>
          </p:nvPr>
        </p:nvSpPr>
        <p:spPr>
          <a:xfrm>
            <a:off x="5434828" y="1"/>
            <a:ext cx="5783472" cy="6685934"/>
          </a:xfrm>
        </p:spPr>
        <p:txBody>
          <a:bodyPr/>
          <a:lstStyle/>
          <a:p>
            <a:r>
              <a:rPr lang="en-US" sz="1200" dirty="0"/>
              <a:t>The final comparison of models highlights significant differences in performance across regression and classification techniques. Among regression models, </a:t>
            </a:r>
            <a:r>
              <a:rPr lang="en-US" sz="1200" b="1" dirty="0"/>
              <a:t>Subset Selection</a:t>
            </a:r>
            <a:r>
              <a:rPr lang="en-US" sz="1200" dirty="0"/>
              <a:t> emerged as the best-performing model with the lowest RMSE (≈ 0.47), closely followed by LASSO, both of which significantly outperform Ridge and the full Linear Regression model. In contrast, Linear Regression and KNN Regression show very high error values (RMSE ≈ 11), indicating poor predictive capability. For classification, Logistic Regression achieved the highest accuracy (≈ 42%), while KNN Classification performed worse (≈ 32.67%), showing limited ability to correctly classify stock trends. Overall, the results demonstrate that simpler models with relevant predictors (Subset Selection and LASSO) provide superior performance, whereas more complex or non-parametric methods do not perform well on this dataset.</a:t>
            </a:r>
          </a:p>
          <a:p>
            <a:r>
              <a:rPr lang="en-US" sz="1200" b="1" dirty="0"/>
              <a:t>Key Results:-</a:t>
            </a:r>
          </a:p>
          <a:p>
            <a:r>
              <a:rPr lang="en-US" sz="1200" b="1" dirty="0"/>
              <a:t>📈 Regression Models</a:t>
            </a:r>
          </a:p>
          <a:p>
            <a:pPr marL="171450" indent="-171450">
              <a:buFont typeface="Wingdings" panose="05000000000000000000" pitchFamily="2" charset="2"/>
              <a:buChar char="ü"/>
            </a:pPr>
            <a:r>
              <a:rPr lang="en-US" sz="1200" b="1" dirty="0"/>
              <a:t>Best Model:</a:t>
            </a:r>
            <a:r>
              <a:rPr lang="en-US" sz="1200" dirty="0"/>
              <a:t> Subset Selection (RMSE ≈ 0.47) </a:t>
            </a:r>
          </a:p>
          <a:p>
            <a:pPr marL="171450" indent="-171450">
              <a:buFont typeface="Wingdings" panose="05000000000000000000" pitchFamily="2" charset="2"/>
              <a:buChar char="ü"/>
            </a:pPr>
            <a:r>
              <a:rPr lang="en-US" sz="1200" dirty="0"/>
              <a:t>LASSO performs similarly (RMSE ≈ 0.48) </a:t>
            </a:r>
          </a:p>
          <a:p>
            <a:pPr marL="171450" indent="-171450">
              <a:buFont typeface="Wingdings" panose="05000000000000000000" pitchFamily="2" charset="2"/>
              <a:buChar char="ü"/>
            </a:pPr>
            <a:r>
              <a:rPr lang="en-US" sz="1200" dirty="0"/>
              <a:t>Ridge shows moderate performance </a:t>
            </a:r>
          </a:p>
          <a:p>
            <a:pPr marL="171450" indent="-171450">
              <a:buFont typeface="Wingdings" panose="05000000000000000000" pitchFamily="2" charset="2"/>
              <a:buChar char="ü"/>
            </a:pPr>
            <a:r>
              <a:rPr lang="en-US" sz="1200" dirty="0"/>
              <a:t>Linear &amp; KNN Regression perform poorly (RMSE ≈ 11) </a:t>
            </a:r>
          </a:p>
          <a:p>
            <a:r>
              <a:rPr lang="en-US" sz="1200" b="1" dirty="0"/>
              <a:t>📊 Classification Models</a:t>
            </a:r>
          </a:p>
          <a:p>
            <a:pPr marL="171450" indent="-171450">
              <a:buFont typeface="Wingdings" panose="05000000000000000000" pitchFamily="2" charset="2"/>
              <a:buChar char="ü"/>
            </a:pPr>
            <a:r>
              <a:rPr lang="en-US" sz="1200" dirty="0"/>
              <a:t>Logistic Regression: Accuracy ≈ </a:t>
            </a:r>
            <a:r>
              <a:rPr lang="en-US" sz="1200" b="1" dirty="0"/>
              <a:t>42% (best)</a:t>
            </a:r>
            <a:r>
              <a:rPr lang="en-US" sz="1200" dirty="0"/>
              <a:t> </a:t>
            </a:r>
          </a:p>
          <a:p>
            <a:pPr marL="171450" indent="-171450">
              <a:buFont typeface="Wingdings" panose="05000000000000000000" pitchFamily="2" charset="2"/>
              <a:buChar char="ü"/>
            </a:pPr>
            <a:r>
              <a:rPr lang="en-US" sz="1200" dirty="0"/>
              <a:t>KNN Classification: Accuracy ≈ </a:t>
            </a:r>
            <a:r>
              <a:rPr lang="en-US" sz="1200" b="1" dirty="0"/>
              <a:t>32.67%</a:t>
            </a:r>
            <a:r>
              <a:rPr lang="en-US" sz="1200" dirty="0"/>
              <a:t> </a:t>
            </a:r>
          </a:p>
          <a:p>
            <a:pPr marL="171450" indent="-171450">
              <a:buFont typeface="Wingdings" panose="05000000000000000000" pitchFamily="2" charset="2"/>
              <a:buChar char="ü"/>
            </a:pPr>
            <a:r>
              <a:rPr lang="en-US" sz="1200" dirty="0"/>
              <a:t>Overall classification performance is weak</a:t>
            </a:r>
          </a:p>
          <a:p>
            <a:r>
              <a:rPr lang="en-US" sz="1200" dirty="0"/>
              <a:t>Subset Selection is the most effective model for predicting stock prices, while classification models show limited success in predicting stock trends. The strong performance of subset selection and LASSO is due to the presence of highly correlated price variables like High and Low in the synthetic dataset. The poor performance of classification models suggests that stock trend prediction is more complex and may require non-linear or advanced machine learning approaches.</a:t>
            </a:r>
          </a:p>
          <a:p>
            <a:pPr marL="0" indent="0">
              <a:spcBef>
                <a:spcPts val="0"/>
              </a:spcBef>
              <a:spcAft>
                <a:spcPts val="1200"/>
              </a:spcAft>
              <a:buNone/>
            </a:pPr>
            <a:endParaRPr lang="en-US" sz="1200" dirty="0"/>
          </a:p>
        </p:txBody>
      </p:sp>
      <p:sp>
        <p:nvSpPr>
          <p:cNvPr id="3" name="Slide Number Placeholder 2">
            <a:extLst>
              <a:ext uri="{FF2B5EF4-FFF2-40B4-BE49-F238E27FC236}">
                <a16:creationId xmlns:a16="http://schemas.microsoft.com/office/drawing/2014/main" id="{EC63A608-904D-88FA-EBB4-49403924EEE6}"/>
              </a:ext>
            </a:extLst>
          </p:cNvPr>
          <p:cNvSpPr>
            <a:spLocks noGrp="1"/>
          </p:cNvSpPr>
          <p:nvPr>
            <p:ph type="sldNum" sz="quarter" idx="11"/>
          </p:nvPr>
        </p:nvSpPr>
        <p:spPr/>
        <p:txBody>
          <a:bodyPr/>
          <a:lstStyle/>
          <a:p>
            <a:fld id="{09A01C0A-2BB6-49E7-91A3-DCB9F9F59583}" type="slidenum">
              <a:rPr lang="en-US" smtClean="0"/>
              <a:pPr/>
              <a:t>16</a:t>
            </a:fld>
            <a:endParaRPr lang="en-US" dirty="0"/>
          </a:p>
        </p:txBody>
      </p:sp>
      <p:sp>
        <p:nvSpPr>
          <p:cNvPr id="4" name="Date Placeholder 3">
            <a:extLst>
              <a:ext uri="{FF2B5EF4-FFF2-40B4-BE49-F238E27FC236}">
                <a16:creationId xmlns:a16="http://schemas.microsoft.com/office/drawing/2014/main" id="{3DB779A0-27E4-B632-3A06-707A14EEC956}"/>
              </a:ext>
            </a:extLst>
          </p:cNvPr>
          <p:cNvSpPr>
            <a:spLocks noGrp="1"/>
          </p:cNvSpPr>
          <p:nvPr>
            <p:ph type="dt" sz="half" idx="14"/>
          </p:nvPr>
        </p:nvSpPr>
        <p:spPr/>
        <p:txBody>
          <a:bodyPr/>
          <a:lstStyle/>
          <a:p>
            <a:fld id="{3D157344-9CC7-412D-8C20-072BE86D5A11}" type="datetime1">
              <a:rPr lang="en-US" smtClean="0"/>
              <a:t>5/5/2026</a:t>
            </a:fld>
            <a:endParaRPr lang="en-US" dirty="0"/>
          </a:p>
        </p:txBody>
      </p:sp>
      <p:pic>
        <p:nvPicPr>
          <p:cNvPr id="12" name="Picture 11">
            <a:extLst>
              <a:ext uri="{FF2B5EF4-FFF2-40B4-BE49-F238E27FC236}">
                <a16:creationId xmlns:a16="http://schemas.microsoft.com/office/drawing/2014/main" id="{9C5529EB-8A95-C176-AF76-CA7862E77A6F}"/>
              </a:ext>
            </a:extLst>
          </p:cNvPr>
          <p:cNvPicPr>
            <a:picLocks noChangeAspect="1"/>
          </p:cNvPicPr>
          <p:nvPr/>
        </p:nvPicPr>
        <p:blipFill>
          <a:blip r:embed="rId3"/>
          <a:stretch>
            <a:fillRect/>
          </a:stretch>
        </p:blipFill>
        <p:spPr>
          <a:xfrm>
            <a:off x="-1" y="1948220"/>
            <a:ext cx="4845173" cy="4909779"/>
          </a:xfrm>
          <a:prstGeom prst="rect">
            <a:avLst/>
          </a:prstGeom>
        </p:spPr>
      </p:pic>
    </p:spTree>
    <p:extLst>
      <p:ext uri="{BB962C8B-B14F-4D97-AF65-F5344CB8AC3E}">
        <p14:creationId xmlns:p14="http://schemas.microsoft.com/office/powerpoint/2010/main" val="3162072281"/>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B3F67B-75AC-F260-1B26-6D0EE7CADCEB}"/>
              </a:ext>
            </a:extLst>
          </p:cNvPr>
          <p:cNvSpPr>
            <a:spLocks noGrp="1"/>
          </p:cNvSpPr>
          <p:nvPr>
            <p:ph type="dt" sz="half" idx="10"/>
          </p:nvPr>
        </p:nvSpPr>
        <p:spPr/>
        <p:txBody>
          <a:bodyPr/>
          <a:lstStyle/>
          <a:p>
            <a:fld id="{8A60B404-9532-4DA8-8A40-EC339A5BE635}" type="datetime1">
              <a:rPr lang="en-US" smtClean="0"/>
              <a:t>5/7/2026</a:t>
            </a:fld>
            <a:endParaRPr lang="en-US" dirty="0"/>
          </a:p>
        </p:txBody>
      </p:sp>
      <p:sp>
        <p:nvSpPr>
          <p:cNvPr id="3" name="Slide Number Placeholder 2">
            <a:extLst>
              <a:ext uri="{FF2B5EF4-FFF2-40B4-BE49-F238E27FC236}">
                <a16:creationId xmlns:a16="http://schemas.microsoft.com/office/drawing/2014/main" id="{6C88BD5A-B784-5FF6-20A6-2E80527ABFB2}"/>
              </a:ext>
            </a:extLst>
          </p:cNvPr>
          <p:cNvSpPr>
            <a:spLocks noGrp="1"/>
          </p:cNvSpPr>
          <p:nvPr>
            <p:ph type="sldNum" sz="quarter" idx="12"/>
          </p:nvPr>
        </p:nvSpPr>
        <p:spPr/>
        <p:txBody>
          <a:bodyPr/>
          <a:lstStyle/>
          <a:p>
            <a:fld id="{CC057153-B650-4DEB-B370-79DDCFDCE934}" type="slidenum">
              <a:rPr lang="en-US" smtClean="0"/>
              <a:t>17</a:t>
            </a:fld>
            <a:endParaRPr lang="en-US" dirty="0"/>
          </a:p>
        </p:txBody>
      </p:sp>
      <p:sp>
        <p:nvSpPr>
          <p:cNvPr id="4" name="Content Placeholder 3">
            <a:extLst>
              <a:ext uri="{FF2B5EF4-FFF2-40B4-BE49-F238E27FC236}">
                <a16:creationId xmlns:a16="http://schemas.microsoft.com/office/drawing/2014/main" id="{66D6FFFA-131F-6458-631B-F94A1176F85E}"/>
              </a:ext>
            </a:extLst>
          </p:cNvPr>
          <p:cNvSpPr>
            <a:spLocks noGrp="1"/>
          </p:cNvSpPr>
          <p:nvPr>
            <p:ph sz="quarter" idx="13"/>
          </p:nvPr>
        </p:nvSpPr>
        <p:spPr>
          <a:xfrm>
            <a:off x="0" y="1297857"/>
            <a:ext cx="9107638" cy="5358581"/>
          </a:xfrm>
        </p:spPr>
        <p:txBody>
          <a:bodyPr>
            <a:normAutofit/>
          </a:bodyPr>
          <a:lstStyle/>
          <a:p>
            <a:endParaRPr lang="en-US" b="1" dirty="0"/>
          </a:p>
          <a:p>
            <a:pPr marL="171450" indent="-171450">
              <a:spcBef>
                <a:spcPts val="0"/>
              </a:spcBef>
              <a:buFont typeface="Wingdings" panose="05000000000000000000" pitchFamily="2" charset="2"/>
              <a:buChar char="ü"/>
            </a:pPr>
            <a:r>
              <a:rPr lang="en-US" sz="1200" b="1" dirty="0"/>
              <a:t>Subset Selection → Best Model</a:t>
            </a:r>
            <a:r>
              <a:rPr lang="en-US" sz="1200" dirty="0"/>
              <a:t> (Lowest RMSE ≈ 0.47) </a:t>
            </a:r>
          </a:p>
          <a:p>
            <a:pPr marL="171450" indent="-171450">
              <a:spcBef>
                <a:spcPts val="0"/>
              </a:spcBef>
              <a:buFont typeface="Wingdings" panose="05000000000000000000" pitchFamily="2" charset="2"/>
              <a:buChar char="ü"/>
            </a:pPr>
            <a:r>
              <a:rPr lang="en-US" sz="1200" b="1" dirty="0"/>
              <a:t>LASSO → Strong Performer</a:t>
            </a:r>
            <a:r>
              <a:rPr lang="en-US" sz="1200" dirty="0"/>
              <a:t> (Confirms key variables: High &amp; Low) </a:t>
            </a:r>
          </a:p>
          <a:p>
            <a:pPr marL="171450" indent="-171450">
              <a:spcBef>
                <a:spcPts val="0"/>
              </a:spcBef>
              <a:buFont typeface="Wingdings" panose="05000000000000000000" pitchFamily="2" charset="2"/>
              <a:buChar char="ü"/>
            </a:pPr>
            <a:r>
              <a:rPr lang="en-US" sz="1200" b="1" dirty="0"/>
              <a:t>Ridge → Moderate Performance</a:t>
            </a:r>
            <a:r>
              <a:rPr lang="en-US" sz="1200" dirty="0"/>
              <a:t> (Improves stability but less accurate) </a:t>
            </a:r>
          </a:p>
          <a:p>
            <a:pPr marL="171450" indent="-171450">
              <a:spcBef>
                <a:spcPts val="0"/>
              </a:spcBef>
              <a:buFont typeface="Wingdings" panose="05000000000000000000" pitchFamily="2" charset="2"/>
              <a:buChar char="ü"/>
            </a:pPr>
            <a:r>
              <a:rPr lang="en-US" sz="1200" b="1" dirty="0"/>
              <a:t>Linear Regression → Poor Fit</a:t>
            </a:r>
            <a:r>
              <a:rPr lang="en-US" sz="1200" dirty="0"/>
              <a:t> (Very low R², high error) </a:t>
            </a:r>
          </a:p>
          <a:p>
            <a:pPr marL="171450" indent="-171450">
              <a:spcBef>
                <a:spcPts val="0"/>
              </a:spcBef>
              <a:buFont typeface="Wingdings" panose="05000000000000000000" pitchFamily="2" charset="2"/>
              <a:buChar char="ü"/>
            </a:pPr>
            <a:r>
              <a:rPr lang="en-US" sz="1200" b="1" dirty="0"/>
              <a:t>KNN Regression → Very Weak</a:t>
            </a:r>
            <a:r>
              <a:rPr lang="en-US" sz="1200" dirty="0"/>
              <a:t> (High RMSE, fails to capture pattern) </a:t>
            </a:r>
          </a:p>
          <a:p>
            <a:pPr>
              <a:spcBef>
                <a:spcPts val="0"/>
              </a:spcBef>
            </a:pPr>
            <a:br>
              <a:rPr lang="en-US" sz="1200" dirty="0"/>
            </a:br>
            <a:r>
              <a:rPr lang="en-US" sz="1200" b="1" dirty="0"/>
              <a:t>High &amp; Low Prices → Most Influential Predictors</a:t>
            </a:r>
            <a:r>
              <a:rPr lang="en-US" sz="1200" dirty="0"/>
              <a:t> </a:t>
            </a:r>
          </a:p>
          <a:p>
            <a:pPr marL="171450" indent="-171450">
              <a:spcBef>
                <a:spcPts val="0"/>
              </a:spcBef>
              <a:buFont typeface="Wingdings" panose="05000000000000000000" pitchFamily="2" charset="2"/>
              <a:buChar char="q"/>
            </a:pPr>
            <a:r>
              <a:rPr lang="en-US" sz="1200" dirty="0"/>
              <a:t>Strong linear relationship with closing price </a:t>
            </a:r>
          </a:p>
          <a:p>
            <a:pPr marL="171450" indent="-171450">
              <a:spcBef>
                <a:spcPts val="0"/>
              </a:spcBef>
              <a:buFont typeface="Wingdings" panose="05000000000000000000" pitchFamily="2" charset="2"/>
              <a:buChar char="q"/>
            </a:pPr>
            <a:r>
              <a:rPr lang="en-US" sz="1200" dirty="0"/>
              <a:t>Feature selection significantly improves model performance </a:t>
            </a:r>
          </a:p>
          <a:p>
            <a:pPr>
              <a:spcBef>
                <a:spcPts val="0"/>
              </a:spcBef>
            </a:pPr>
            <a:br>
              <a:rPr lang="en-US" sz="1200" dirty="0"/>
            </a:br>
            <a:r>
              <a:rPr lang="en-US" sz="1200" b="1" dirty="0"/>
              <a:t>Classification Models → Weak Performance</a:t>
            </a:r>
            <a:r>
              <a:rPr lang="en-US" sz="1200" dirty="0"/>
              <a:t> </a:t>
            </a:r>
          </a:p>
          <a:p>
            <a:pPr marL="171450" indent="-171450">
              <a:spcBef>
                <a:spcPts val="0"/>
              </a:spcBef>
              <a:buFont typeface="Wingdings" panose="05000000000000000000" pitchFamily="2" charset="2"/>
              <a:buChar char="q"/>
            </a:pPr>
            <a:r>
              <a:rPr lang="en-US" sz="1200" dirty="0"/>
              <a:t>Logistic Accuracy ≈ 42% (best among classification) </a:t>
            </a:r>
          </a:p>
          <a:p>
            <a:pPr marL="171450" indent="-171450">
              <a:spcBef>
                <a:spcPts val="0"/>
              </a:spcBef>
              <a:buFont typeface="Wingdings" panose="05000000000000000000" pitchFamily="2" charset="2"/>
              <a:buChar char="q"/>
            </a:pPr>
            <a:r>
              <a:rPr lang="en-US" sz="1200" dirty="0"/>
              <a:t>LDA &amp; KNN ≈ 32% (near random performance) </a:t>
            </a:r>
          </a:p>
          <a:p>
            <a:pPr marL="171450" indent="-171450">
              <a:spcBef>
                <a:spcPts val="0"/>
              </a:spcBef>
              <a:buFont typeface="Wingdings" panose="05000000000000000000" pitchFamily="2" charset="2"/>
              <a:buChar char="q"/>
            </a:pPr>
            <a:r>
              <a:rPr lang="en-US" sz="1200" dirty="0"/>
              <a:t>Poor class separation across trends</a:t>
            </a:r>
          </a:p>
          <a:p>
            <a:r>
              <a:rPr lang="en-US" sz="1200" b="1" dirty="0"/>
              <a:t>Prediction vs Classification</a:t>
            </a:r>
            <a:r>
              <a:rPr lang="en-US" sz="1200" dirty="0"/>
              <a:t> </a:t>
            </a:r>
          </a:p>
          <a:p>
            <a:pPr marL="171450" indent="-171450">
              <a:spcBef>
                <a:spcPts val="0"/>
              </a:spcBef>
              <a:buFont typeface="Wingdings" panose="05000000000000000000" pitchFamily="2" charset="2"/>
              <a:buChar char="q"/>
            </a:pPr>
            <a:r>
              <a:rPr lang="en-US" sz="1200" dirty="0"/>
              <a:t>Regression models perform significantly better </a:t>
            </a:r>
          </a:p>
          <a:p>
            <a:pPr marL="171450" indent="-171450">
              <a:spcBef>
                <a:spcPts val="0"/>
              </a:spcBef>
              <a:buFont typeface="Wingdings" panose="05000000000000000000" pitchFamily="2" charset="2"/>
              <a:buChar char="q"/>
            </a:pPr>
            <a:r>
              <a:rPr lang="en-US" sz="1200" dirty="0"/>
              <a:t>Trend prediction is more complex than price prediction </a:t>
            </a:r>
          </a:p>
          <a:p>
            <a:pPr>
              <a:spcBef>
                <a:spcPts val="0"/>
              </a:spcBef>
            </a:pPr>
            <a:br>
              <a:rPr lang="en-US" sz="1200" dirty="0"/>
            </a:br>
            <a:r>
              <a:rPr lang="en-US" sz="1200" b="1" dirty="0"/>
              <a:t>Dataset Insight</a:t>
            </a:r>
            <a:r>
              <a:rPr lang="en-US" sz="1200" dirty="0"/>
              <a:t> </a:t>
            </a:r>
          </a:p>
          <a:p>
            <a:pPr marL="171450" indent="-171450">
              <a:spcBef>
                <a:spcPts val="0"/>
              </a:spcBef>
              <a:buFont typeface="Wingdings" panose="05000000000000000000" pitchFamily="2" charset="2"/>
              <a:buChar char="q"/>
            </a:pPr>
            <a:r>
              <a:rPr lang="en-US" sz="1200" dirty="0"/>
              <a:t>Synthetic data shows strong dependency among price variables </a:t>
            </a:r>
          </a:p>
          <a:p>
            <a:pPr marL="171450" indent="-171450">
              <a:spcBef>
                <a:spcPts val="0"/>
              </a:spcBef>
              <a:buFont typeface="Wingdings" panose="05000000000000000000" pitchFamily="2" charset="2"/>
              <a:buChar char="q"/>
            </a:pPr>
            <a:r>
              <a:rPr lang="en-US" sz="1200" dirty="0"/>
              <a:t>Leads to very high accuracy in subset &amp; LASSO models </a:t>
            </a:r>
          </a:p>
          <a:p>
            <a:endParaRPr lang="en-IN" sz="1200" dirty="0"/>
          </a:p>
        </p:txBody>
      </p:sp>
      <p:sp>
        <p:nvSpPr>
          <p:cNvPr id="5" name="Title 4">
            <a:extLst>
              <a:ext uri="{FF2B5EF4-FFF2-40B4-BE49-F238E27FC236}">
                <a16:creationId xmlns:a16="http://schemas.microsoft.com/office/drawing/2014/main" id="{B26BE0DC-1C71-4B3A-3D46-60C009AE7880}"/>
              </a:ext>
            </a:extLst>
          </p:cNvPr>
          <p:cNvSpPr>
            <a:spLocks noGrp="1"/>
          </p:cNvSpPr>
          <p:nvPr>
            <p:ph type="title"/>
          </p:nvPr>
        </p:nvSpPr>
        <p:spPr>
          <a:xfrm>
            <a:off x="0" y="-2"/>
            <a:ext cx="9107638" cy="1514169"/>
          </a:xfrm>
        </p:spPr>
        <p:txBody>
          <a:bodyPr/>
          <a:lstStyle/>
          <a:p>
            <a:r>
              <a:rPr lang="en-US" u="sng" dirty="0">
                <a:solidFill>
                  <a:schemeClr val="accent1">
                    <a:lumMod val="75000"/>
                  </a:schemeClr>
                </a:solidFill>
                <a:latin typeface="Algerian" panose="04020705040A02060702" pitchFamily="82" charset="0"/>
              </a:rPr>
              <a:t>Key Insights at a Glance:</a:t>
            </a:r>
            <a:br>
              <a:rPr lang="en-US" dirty="0"/>
            </a:br>
            <a:endParaRPr lang="en-IN" dirty="0"/>
          </a:p>
        </p:txBody>
      </p:sp>
    </p:spTree>
    <p:extLst>
      <p:ext uri="{BB962C8B-B14F-4D97-AF65-F5344CB8AC3E}">
        <p14:creationId xmlns:p14="http://schemas.microsoft.com/office/powerpoint/2010/main" val="937553620"/>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EDB7-1CF5-1DEE-D704-3AD1E181C58C}"/>
              </a:ext>
            </a:extLst>
          </p:cNvPr>
          <p:cNvSpPr>
            <a:spLocks noGrp="1"/>
          </p:cNvSpPr>
          <p:nvPr>
            <p:ph type="title"/>
          </p:nvPr>
        </p:nvSpPr>
        <p:spPr>
          <a:xfrm>
            <a:off x="412955" y="1"/>
            <a:ext cx="10825847" cy="1219200"/>
          </a:xfrm>
        </p:spPr>
        <p:txBody>
          <a:bodyPr/>
          <a:lstStyle/>
          <a:p>
            <a:r>
              <a:rPr lang="en-US" sz="4000" u="sng" dirty="0">
                <a:solidFill>
                  <a:schemeClr val="accent1">
                    <a:lumMod val="75000"/>
                  </a:schemeClr>
                </a:solidFill>
                <a:latin typeface="Algerian" panose="04020705040A02060702" pitchFamily="82" charset="0"/>
              </a:rPr>
              <a:t>Conclusion and final insights: </a:t>
            </a:r>
          </a:p>
        </p:txBody>
      </p:sp>
      <p:pic>
        <p:nvPicPr>
          <p:cNvPr id="8" name="Picture Placeholder 7" descr="A low angle view of a building">
            <a:extLst>
              <a:ext uri="{FF2B5EF4-FFF2-40B4-BE49-F238E27FC236}">
                <a16:creationId xmlns:a16="http://schemas.microsoft.com/office/drawing/2014/main" id="{5215A1AA-3C3B-88E7-D17A-A11614E9074D}"/>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xfrm>
            <a:off x="569152" y="1993348"/>
            <a:ext cx="5442604" cy="4220413"/>
          </a:xfrm>
        </p:spPr>
      </p:pic>
      <p:sp>
        <p:nvSpPr>
          <p:cNvPr id="4" name="Content Placeholder 3">
            <a:extLst>
              <a:ext uri="{FF2B5EF4-FFF2-40B4-BE49-F238E27FC236}">
                <a16:creationId xmlns:a16="http://schemas.microsoft.com/office/drawing/2014/main" id="{01C3B3E0-0F30-9383-C08B-FF43C14B52D9}"/>
              </a:ext>
            </a:extLst>
          </p:cNvPr>
          <p:cNvSpPr>
            <a:spLocks noGrp="1"/>
          </p:cNvSpPr>
          <p:nvPr>
            <p:ph sz="quarter" idx="14"/>
          </p:nvPr>
        </p:nvSpPr>
        <p:spPr>
          <a:xfrm>
            <a:off x="6580910" y="1219201"/>
            <a:ext cx="4657891" cy="5638799"/>
          </a:xfrm>
        </p:spPr>
        <p:txBody>
          <a:bodyPr/>
          <a:lstStyle/>
          <a:p>
            <a:r>
              <a:rPr lang="en-US" sz="1400" dirty="0"/>
              <a:t>The analysis of the synthetic stock dataset demonstrates that model performance varies significantly depending on the method used. Among all regression models, </a:t>
            </a:r>
            <a:r>
              <a:rPr lang="en-US" sz="1400" b="1" dirty="0"/>
              <a:t>Subset Selection and LASSO</a:t>
            </a:r>
            <a:r>
              <a:rPr lang="en-US" sz="1400" dirty="0"/>
              <a:t> provided the best results, achieving very high accuracy and low prediction error by focusing on the most relevant predictors, particularly </a:t>
            </a:r>
            <a:r>
              <a:rPr lang="en-US" sz="1400" i="1" dirty="0"/>
              <a:t>High</a:t>
            </a:r>
            <a:r>
              <a:rPr lang="en-US" sz="1400" dirty="0"/>
              <a:t> and </a:t>
            </a:r>
            <a:r>
              <a:rPr lang="en-US" sz="1400" i="1" dirty="0"/>
              <a:t>Low</a:t>
            </a:r>
            <a:r>
              <a:rPr lang="en-US" sz="1400" dirty="0"/>
              <a:t>. In contrast, the Multiple Linear Regression and KNN Regression models performed poorly due to the inclusion of irrelevant variables and inability to capture the underlying relationships. For classification tasks, all models including Logistic Regression, LDA, and KNN showed low accuracy, indicating that stock trend prediction is more complex and not well explained by the given features. Overall, the results highlight the importance of </a:t>
            </a:r>
            <a:r>
              <a:rPr lang="en-US" sz="1400" b="1" dirty="0"/>
              <a:t>feature selection and model simplicity</a:t>
            </a:r>
            <a:r>
              <a:rPr lang="en-US" sz="1400" dirty="0"/>
              <a:t> in achieving better predictive performance.</a:t>
            </a:r>
          </a:p>
          <a:p>
            <a:r>
              <a:rPr lang="en-US" sz="1400" b="1" dirty="0"/>
              <a:t>Key Takeaways:-</a:t>
            </a:r>
          </a:p>
          <a:p>
            <a:pPr marL="171450" indent="-171450">
              <a:spcBef>
                <a:spcPts val="0"/>
              </a:spcBef>
              <a:buFont typeface="Wingdings" panose="05000000000000000000" pitchFamily="2" charset="2"/>
              <a:buChar char="q"/>
            </a:pPr>
            <a:r>
              <a:rPr lang="en-US" sz="1400" b="1" dirty="0"/>
              <a:t>Best Model:</a:t>
            </a:r>
            <a:r>
              <a:rPr lang="en-US" sz="1400" dirty="0"/>
              <a:t> Subset Selection (Lowest RMSE ≈ 0.47) </a:t>
            </a:r>
          </a:p>
          <a:p>
            <a:pPr marL="171450" indent="-171450">
              <a:spcBef>
                <a:spcPts val="0"/>
              </a:spcBef>
              <a:buFont typeface="Wingdings" panose="05000000000000000000" pitchFamily="2" charset="2"/>
              <a:buChar char="q"/>
            </a:pPr>
            <a:r>
              <a:rPr lang="en-US" sz="1400" dirty="0"/>
              <a:t>LASSO confirms importance of </a:t>
            </a:r>
            <a:r>
              <a:rPr lang="en-US" sz="1400" b="1" dirty="0"/>
              <a:t>High &amp; Low variables</a:t>
            </a:r>
            <a:r>
              <a:rPr lang="en-US" sz="1400" dirty="0"/>
              <a:t> </a:t>
            </a:r>
          </a:p>
          <a:p>
            <a:pPr marL="171450" indent="-171450">
              <a:spcBef>
                <a:spcPts val="0"/>
              </a:spcBef>
              <a:buFont typeface="Wingdings" panose="05000000000000000000" pitchFamily="2" charset="2"/>
              <a:buChar char="q"/>
            </a:pPr>
            <a:r>
              <a:rPr lang="en-US" sz="1400" dirty="0"/>
              <a:t>Linear and KNN Regression show poor performance </a:t>
            </a:r>
          </a:p>
          <a:p>
            <a:pPr marL="171450" indent="-171450">
              <a:spcBef>
                <a:spcPts val="0"/>
              </a:spcBef>
              <a:buFont typeface="Wingdings" panose="05000000000000000000" pitchFamily="2" charset="2"/>
              <a:buChar char="q"/>
            </a:pPr>
            <a:r>
              <a:rPr lang="en-US" sz="1400" dirty="0"/>
              <a:t>Classification models (Logistic, LDA, KNN) perform weakly </a:t>
            </a:r>
          </a:p>
          <a:p>
            <a:pPr marL="171450" indent="-171450">
              <a:spcBef>
                <a:spcPts val="0"/>
              </a:spcBef>
              <a:buFont typeface="Wingdings" panose="05000000000000000000" pitchFamily="2" charset="2"/>
              <a:buChar char="q"/>
            </a:pPr>
            <a:r>
              <a:rPr lang="en-US" sz="1400" dirty="0"/>
              <a:t>Feature selection is more important than model complexity </a:t>
            </a:r>
          </a:p>
          <a:p>
            <a:endParaRPr lang="en-US" sz="1600" dirty="0"/>
          </a:p>
          <a:p>
            <a:endParaRPr lang="en-US" dirty="0"/>
          </a:p>
        </p:txBody>
      </p:sp>
      <p:sp>
        <p:nvSpPr>
          <p:cNvPr id="5" name="Date Placeholder 4">
            <a:extLst>
              <a:ext uri="{FF2B5EF4-FFF2-40B4-BE49-F238E27FC236}">
                <a16:creationId xmlns:a16="http://schemas.microsoft.com/office/drawing/2014/main" id="{C1572235-5131-2209-A5FB-B6919170D1B5}"/>
              </a:ext>
            </a:extLst>
          </p:cNvPr>
          <p:cNvSpPr>
            <a:spLocks noGrp="1"/>
          </p:cNvSpPr>
          <p:nvPr>
            <p:ph type="dt" sz="half" idx="10"/>
          </p:nvPr>
        </p:nvSpPr>
        <p:spPr>
          <a:xfrm rot="16200000">
            <a:off x="11577948" y="230006"/>
            <a:ext cx="844062" cy="384047"/>
          </a:xfrm>
        </p:spPr>
        <p:txBody>
          <a:bodyPr/>
          <a:lstStyle/>
          <a:p>
            <a:fld id="{4766791B-F730-470C-BD5E-FFF8D449589F}" type="datetime1">
              <a:rPr lang="en-US" smtClean="0"/>
              <a:pPr/>
              <a:t>5/5/2026</a:t>
            </a:fld>
            <a:endParaRPr lang="en-US" dirty="0"/>
          </a:p>
        </p:txBody>
      </p:sp>
      <p:sp>
        <p:nvSpPr>
          <p:cNvPr id="6" name="Slide Number Placeholder 5">
            <a:extLst>
              <a:ext uri="{FF2B5EF4-FFF2-40B4-BE49-F238E27FC236}">
                <a16:creationId xmlns:a16="http://schemas.microsoft.com/office/drawing/2014/main" id="{DB7801CE-92ED-238E-12B7-FAFDBE3F95E9}"/>
              </a:ext>
            </a:extLst>
          </p:cNvPr>
          <p:cNvSpPr>
            <a:spLocks noGrp="1"/>
          </p:cNvSpPr>
          <p:nvPr>
            <p:ph type="sldNum" sz="quarter" idx="12"/>
          </p:nvPr>
        </p:nvSpPr>
        <p:spPr>
          <a:xfrm rot="16200000">
            <a:off x="11679259" y="6345258"/>
            <a:ext cx="641433" cy="384048"/>
          </a:xfrm>
        </p:spPr>
        <p:txBody>
          <a:bodyPr/>
          <a:lstStyle/>
          <a:p>
            <a:fld id="{CC057153-B650-4DEB-B370-79DDCFDCE934}" type="slidenum">
              <a:rPr lang="en-US" smtClean="0"/>
              <a:pPr/>
              <a:t>18</a:t>
            </a:fld>
            <a:endParaRPr lang="en-US" dirty="0"/>
          </a:p>
        </p:txBody>
      </p:sp>
      <p:sp>
        <p:nvSpPr>
          <p:cNvPr id="9" name="Freeform 8">
            <a:extLst>
              <a:ext uri="{FF2B5EF4-FFF2-40B4-BE49-F238E27FC236}">
                <a16:creationId xmlns:a16="http://schemas.microsoft.com/office/drawing/2014/main" id="{B16F64F1-F32E-7894-C8C1-A1E5D9A6A702}"/>
              </a:ext>
              <a:ext uri="{C183D7F6-B498-43B3-948B-1728B52AA6E4}">
                <adec:decorative xmlns:adec="http://schemas.microsoft.com/office/drawing/2017/decorative" val="1"/>
              </a:ext>
            </a:extLst>
          </p:cNvPr>
          <p:cNvSpPr/>
          <p:nvPr/>
        </p:nvSpPr>
        <p:spPr>
          <a:xfrm>
            <a:off x="-636628" y="5056284"/>
            <a:ext cx="3179653" cy="1801715"/>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7" name="Picture 6">
            <a:extLst>
              <a:ext uri="{FF2B5EF4-FFF2-40B4-BE49-F238E27FC236}">
                <a16:creationId xmlns:a16="http://schemas.microsoft.com/office/drawing/2014/main" id="{E0AF7249-C853-1AAB-C70F-C15760307330}"/>
              </a:ext>
            </a:extLst>
          </p:cNvPr>
          <p:cNvPicPr>
            <a:picLocks noChangeAspect="1"/>
          </p:cNvPicPr>
          <p:nvPr/>
        </p:nvPicPr>
        <p:blipFill>
          <a:blip r:embed="rId3"/>
          <a:stretch>
            <a:fillRect/>
          </a:stretch>
        </p:blipFill>
        <p:spPr>
          <a:xfrm>
            <a:off x="526291" y="1219201"/>
            <a:ext cx="2973992" cy="2694616"/>
          </a:xfrm>
          <a:prstGeom prst="rect">
            <a:avLst/>
          </a:prstGeom>
        </p:spPr>
      </p:pic>
      <p:pic>
        <p:nvPicPr>
          <p:cNvPr id="11" name="Picture 10">
            <a:extLst>
              <a:ext uri="{FF2B5EF4-FFF2-40B4-BE49-F238E27FC236}">
                <a16:creationId xmlns:a16="http://schemas.microsoft.com/office/drawing/2014/main" id="{D6416E66-A0D4-E448-20D7-10088A42A5EF}"/>
              </a:ext>
            </a:extLst>
          </p:cNvPr>
          <p:cNvPicPr>
            <a:picLocks noChangeAspect="1"/>
          </p:cNvPicPr>
          <p:nvPr/>
        </p:nvPicPr>
        <p:blipFill>
          <a:blip r:embed="rId4"/>
          <a:stretch>
            <a:fillRect/>
          </a:stretch>
        </p:blipFill>
        <p:spPr>
          <a:xfrm>
            <a:off x="569152" y="3913817"/>
            <a:ext cx="6011756" cy="2299944"/>
          </a:xfrm>
          <a:prstGeom prst="rect">
            <a:avLst/>
          </a:prstGeom>
        </p:spPr>
      </p:pic>
      <p:pic>
        <p:nvPicPr>
          <p:cNvPr id="13" name="Picture 12">
            <a:extLst>
              <a:ext uri="{FF2B5EF4-FFF2-40B4-BE49-F238E27FC236}">
                <a16:creationId xmlns:a16="http://schemas.microsoft.com/office/drawing/2014/main" id="{7054F821-508C-838C-7505-306BB64FC927}"/>
              </a:ext>
            </a:extLst>
          </p:cNvPr>
          <p:cNvPicPr>
            <a:picLocks noChangeAspect="1"/>
          </p:cNvPicPr>
          <p:nvPr/>
        </p:nvPicPr>
        <p:blipFill>
          <a:blip r:embed="rId5"/>
          <a:stretch>
            <a:fillRect/>
          </a:stretch>
        </p:blipFill>
        <p:spPr>
          <a:xfrm>
            <a:off x="3500283" y="1219200"/>
            <a:ext cx="3080626" cy="2694615"/>
          </a:xfrm>
          <a:prstGeom prst="rect">
            <a:avLst/>
          </a:prstGeom>
        </p:spPr>
      </p:pic>
    </p:spTree>
    <p:extLst>
      <p:ext uri="{BB962C8B-B14F-4D97-AF65-F5344CB8AC3E}">
        <p14:creationId xmlns:p14="http://schemas.microsoft.com/office/powerpoint/2010/main" val="2765791102"/>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7BA929-699D-C849-B9FE-E2561271EA40}"/>
              </a:ext>
            </a:extLst>
          </p:cNvPr>
          <p:cNvSpPr>
            <a:spLocks noGrp="1"/>
          </p:cNvSpPr>
          <p:nvPr>
            <p:ph type="ctrTitle"/>
          </p:nvPr>
        </p:nvSpPr>
        <p:spPr>
          <a:xfrm>
            <a:off x="314631" y="176982"/>
            <a:ext cx="4532671" cy="1543664"/>
          </a:xfrm>
        </p:spPr>
        <p:txBody>
          <a:bodyPr/>
          <a:lstStyle/>
          <a:p>
            <a:r>
              <a:rPr lang="en-US" dirty="0"/>
              <a:t>FUTURE direction:</a:t>
            </a:r>
          </a:p>
        </p:txBody>
      </p:sp>
      <p:sp>
        <p:nvSpPr>
          <p:cNvPr id="5" name="Subtitle 4">
            <a:extLst>
              <a:ext uri="{FF2B5EF4-FFF2-40B4-BE49-F238E27FC236}">
                <a16:creationId xmlns:a16="http://schemas.microsoft.com/office/drawing/2014/main" id="{AE1A6279-193C-575B-8B5B-2DD21DC333AD}"/>
              </a:ext>
            </a:extLst>
          </p:cNvPr>
          <p:cNvSpPr>
            <a:spLocks noGrp="1"/>
          </p:cNvSpPr>
          <p:nvPr>
            <p:ph type="subTitle" idx="1"/>
          </p:nvPr>
        </p:nvSpPr>
        <p:spPr>
          <a:xfrm>
            <a:off x="548648" y="1946787"/>
            <a:ext cx="4056192" cy="4229687"/>
          </a:xfrm>
        </p:spPr>
        <p:txBody>
          <a:bodyPr>
            <a:normAutofit lnSpcReduction="10000"/>
          </a:bodyPr>
          <a:lstStyle/>
          <a:p>
            <a:pPr marL="285750" indent="-285750">
              <a:buFont typeface="Wingdings" panose="05000000000000000000" pitchFamily="2" charset="2"/>
              <a:buChar char="q"/>
            </a:pPr>
            <a:r>
              <a:rPr lang="en-US" sz="1200" dirty="0"/>
              <a:t>Best models: </a:t>
            </a:r>
            <a:r>
              <a:rPr lang="en-US" sz="1200" b="1" dirty="0"/>
              <a:t>Subset Selection &amp; LASSO</a:t>
            </a:r>
            <a:r>
              <a:rPr lang="en-US" sz="1200" dirty="0"/>
              <a:t> </a:t>
            </a:r>
          </a:p>
          <a:p>
            <a:pPr marL="285750" indent="-285750">
              <a:buFont typeface="Wingdings" panose="05000000000000000000" pitchFamily="2" charset="2"/>
              <a:buChar char="q"/>
            </a:pPr>
            <a:r>
              <a:rPr lang="en-US" sz="1200" dirty="0"/>
              <a:t>Key takeaway: </a:t>
            </a:r>
            <a:r>
              <a:rPr lang="en-US" sz="1200" i="1" dirty="0"/>
              <a:t>Feature selection improves model performance</a:t>
            </a:r>
            <a:r>
              <a:rPr lang="en-US" sz="1200" dirty="0"/>
              <a:t> </a:t>
            </a:r>
          </a:p>
          <a:p>
            <a:pPr marL="285750" indent="-285750">
              <a:buFont typeface="Wingdings" panose="05000000000000000000" pitchFamily="2" charset="2"/>
              <a:buChar char="q"/>
            </a:pPr>
            <a:r>
              <a:rPr lang="en-US" sz="1200" dirty="0"/>
              <a:t>Future work: Use real-world data &amp; advanced ML models </a:t>
            </a:r>
          </a:p>
          <a:p>
            <a:r>
              <a:rPr lang="en-US" sz="1400" b="1" dirty="0"/>
              <a:t>Future Directions:</a:t>
            </a:r>
            <a:endParaRPr lang="en-US" sz="1400" dirty="0"/>
          </a:p>
          <a:p>
            <a:pPr marL="171450" indent="-171450">
              <a:buFont typeface="Wingdings" panose="05000000000000000000" pitchFamily="2" charset="2"/>
              <a:buChar char="Ø"/>
            </a:pPr>
            <a:r>
              <a:rPr lang="en-US" sz="1200" dirty="0"/>
              <a:t>Use real-world stock market data </a:t>
            </a:r>
          </a:p>
          <a:p>
            <a:pPr marL="171450" indent="-171450">
              <a:buFont typeface="Wingdings" panose="05000000000000000000" pitchFamily="2" charset="2"/>
              <a:buChar char="Ø"/>
            </a:pPr>
            <a:r>
              <a:rPr lang="en-US" sz="1200" dirty="0"/>
              <a:t>Incorporate additional financial and sentiment variables </a:t>
            </a:r>
          </a:p>
          <a:p>
            <a:pPr marL="171450" indent="-171450">
              <a:buFont typeface="Wingdings" panose="05000000000000000000" pitchFamily="2" charset="2"/>
              <a:buChar char="Ø"/>
            </a:pPr>
            <a:r>
              <a:rPr lang="en-US" sz="1200" dirty="0"/>
              <a:t>Apply advanced ML models (Random Forest, SVM) </a:t>
            </a:r>
          </a:p>
          <a:p>
            <a:pPr marL="171450" indent="-171450">
              <a:buFont typeface="Wingdings" panose="05000000000000000000" pitchFamily="2" charset="2"/>
              <a:buChar char="Ø"/>
            </a:pPr>
            <a:r>
              <a:rPr lang="en-US" sz="1200" dirty="0"/>
              <a:t>Explore time-series forecasting techniques </a:t>
            </a:r>
          </a:p>
          <a:p>
            <a:pPr marL="171450" indent="-171450">
              <a:buFont typeface="Wingdings" panose="05000000000000000000" pitchFamily="2" charset="2"/>
              <a:buChar char="Ø"/>
            </a:pPr>
            <a:r>
              <a:rPr lang="en-US" sz="1200" dirty="0"/>
              <a:t>Improve feature selection and model tuning</a:t>
            </a:r>
          </a:p>
          <a:p>
            <a:pPr marL="171450" indent="-171450">
              <a:buFont typeface="Wingdings" panose="05000000000000000000" pitchFamily="2" charset="2"/>
              <a:buChar char="Ø"/>
            </a:pPr>
            <a:r>
              <a:rPr lang="en-IN" sz="1200" dirty="0"/>
              <a:t>Use </a:t>
            </a:r>
            <a:r>
              <a:rPr lang="en-IN" sz="1200" b="1" dirty="0"/>
              <a:t>time-series models</a:t>
            </a:r>
            <a:r>
              <a:rPr lang="en-IN" sz="1200" dirty="0"/>
              <a:t> (ARIMA, LSTM) for better forecasting </a:t>
            </a:r>
          </a:p>
          <a:p>
            <a:pPr marL="171450" indent="-171450">
              <a:buFont typeface="Wingdings" panose="05000000000000000000" pitchFamily="2" charset="2"/>
              <a:buChar char="Ø"/>
            </a:pPr>
            <a:r>
              <a:rPr lang="en-IN" sz="1200" dirty="0"/>
              <a:t>Perform </a:t>
            </a:r>
            <a:r>
              <a:rPr lang="en-IN" sz="1200" b="1" dirty="0"/>
              <a:t>hyperparameter tuning</a:t>
            </a:r>
            <a:r>
              <a:rPr lang="en-IN" sz="1200" dirty="0"/>
              <a:t> for improved accuracy </a:t>
            </a:r>
          </a:p>
          <a:p>
            <a:pPr marL="171450" indent="-171450">
              <a:buFont typeface="Wingdings" panose="05000000000000000000" pitchFamily="2" charset="2"/>
              <a:buChar char="Ø"/>
            </a:pPr>
            <a:r>
              <a:rPr lang="en-IN" sz="1200" dirty="0"/>
              <a:t>Handle </a:t>
            </a:r>
            <a:r>
              <a:rPr lang="en-IN" sz="1200" b="1" dirty="0"/>
              <a:t>market volatility and external shocks</a:t>
            </a:r>
            <a:endParaRPr lang="en-US" sz="1200" dirty="0"/>
          </a:p>
          <a:p>
            <a:endParaRPr lang="en-US" sz="1400" dirty="0">
              <a:latin typeface="Baskerville Old Face" panose="02020602080505020303" pitchFamily="18" charset="0"/>
            </a:endParaRPr>
          </a:p>
        </p:txBody>
      </p:sp>
      <p:pic>
        <p:nvPicPr>
          <p:cNvPr id="8" name="Picture Placeholder 7" descr="A person walking on a crosswalk">
            <a:extLst>
              <a:ext uri="{FF2B5EF4-FFF2-40B4-BE49-F238E27FC236}">
                <a16:creationId xmlns:a16="http://schemas.microsoft.com/office/drawing/2014/main" id="{595C53C1-B9AF-460C-5ADF-5F9498571BFD}"/>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p:blipFill>
        <p:spPr>
          <a:xfrm>
            <a:off x="5188802" y="0"/>
            <a:ext cx="6619138" cy="6858000"/>
          </a:xfrm>
        </p:spPr>
      </p:pic>
      <p:sp>
        <p:nvSpPr>
          <p:cNvPr id="3" name="Date Placeholder 2">
            <a:extLst>
              <a:ext uri="{FF2B5EF4-FFF2-40B4-BE49-F238E27FC236}">
                <a16:creationId xmlns:a16="http://schemas.microsoft.com/office/drawing/2014/main" id="{59730A5E-295F-EDB1-5BA1-B9E41E7BC356}"/>
              </a:ext>
            </a:extLst>
          </p:cNvPr>
          <p:cNvSpPr>
            <a:spLocks noGrp="1"/>
          </p:cNvSpPr>
          <p:nvPr>
            <p:ph type="dt" sz="half" idx="14"/>
          </p:nvPr>
        </p:nvSpPr>
        <p:spPr>
          <a:xfrm rot="16200000">
            <a:off x="11579347" y="228600"/>
            <a:ext cx="841248" cy="384048"/>
          </a:xfrm>
        </p:spPr>
        <p:txBody>
          <a:bodyPr/>
          <a:lstStyle/>
          <a:p>
            <a:fld id="{1FE1A989-42EF-40B2-87AB-6941C231CD4A}" type="datetime1">
              <a:rPr lang="en-US" smtClean="0"/>
              <a:pPr/>
              <a:t>5/5/2026</a:t>
            </a:fld>
            <a:endParaRPr lang="en-US" dirty="0"/>
          </a:p>
        </p:txBody>
      </p:sp>
      <p:sp>
        <p:nvSpPr>
          <p:cNvPr id="4" name="Slide Number Placeholder 3">
            <a:extLst>
              <a:ext uri="{FF2B5EF4-FFF2-40B4-BE49-F238E27FC236}">
                <a16:creationId xmlns:a16="http://schemas.microsoft.com/office/drawing/2014/main" id="{DFDD2C17-2A35-008E-0C6B-4BF66328FEFA}"/>
              </a:ext>
            </a:extLst>
          </p:cNvPr>
          <p:cNvSpPr>
            <a:spLocks noGrp="1"/>
          </p:cNvSpPr>
          <p:nvPr>
            <p:ph type="sldNum" sz="quarter" idx="16"/>
          </p:nvPr>
        </p:nvSpPr>
        <p:spPr>
          <a:xfrm rot="16200000">
            <a:off x="11659214" y="6325209"/>
            <a:ext cx="681526" cy="384055"/>
          </a:xfrm>
        </p:spPr>
        <p:txBody>
          <a:bodyPr/>
          <a:lstStyle/>
          <a:p>
            <a:fld id="{CC057153-B650-4DEB-B370-79DDCFDCE934}" type="slidenum">
              <a:rPr lang="en-US" smtClean="0"/>
              <a:pPr/>
              <a:t>19</a:t>
            </a:fld>
            <a:endParaRPr lang="en-US" dirty="0"/>
          </a:p>
        </p:txBody>
      </p:sp>
    </p:spTree>
    <p:extLst>
      <p:ext uri="{BB962C8B-B14F-4D97-AF65-F5344CB8AC3E}">
        <p14:creationId xmlns:p14="http://schemas.microsoft.com/office/powerpoint/2010/main" val="3561074277"/>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DC7FDDB-3646-2EBC-D0C7-B5B8AA36C4DD}"/>
              </a:ext>
            </a:extLst>
          </p:cNvPr>
          <p:cNvSpPr>
            <a:spLocks noGrp="1"/>
          </p:cNvSpPr>
          <p:nvPr>
            <p:ph type="pic" sz="quarter" idx="10"/>
          </p:nvPr>
        </p:nvSpPr>
        <p:spPr/>
      </p:sp>
      <p:sp>
        <p:nvSpPr>
          <p:cNvPr id="3" name="Text Placeholder 2">
            <a:extLst>
              <a:ext uri="{FF2B5EF4-FFF2-40B4-BE49-F238E27FC236}">
                <a16:creationId xmlns:a16="http://schemas.microsoft.com/office/drawing/2014/main" id="{4B8FD242-5DEE-5BCF-2914-EA859837B8A1}"/>
              </a:ext>
            </a:extLst>
          </p:cNvPr>
          <p:cNvSpPr>
            <a:spLocks noGrp="1"/>
          </p:cNvSpPr>
          <p:nvPr>
            <p:ph type="body" idx="1"/>
          </p:nvPr>
        </p:nvSpPr>
        <p:spPr>
          <a:xfrm>
            <a:off x="3403600" y="2407920"/>
            <a:ext cx="5415280" cy="2153919"/>
          </a:xfrm>
          <a:solidFill>
            <a:srgbClr val="3CF3D1"/>
          </a:solidFill>
        </p:spPr>
        <p:txBody>
          <a:bodyPr/>
          <a:lstStyle/>
          <a:p>
            <a:r>
              <a:rPr lang="en-US" sz="6000" b="1" dirty="0">
                <a:solidFill>
                  <a:schemeClr val="accent3"/>
                </a:solidFill>
                <a:latin typeface="Britannic Bold" panose="020B0903060703020204" pitchFamily="34" charset="0"/>
              </a:rPr>
              <a:t>THANK YOU</a:t>
            </a:r>
            <a:endParaRPr lang="en-IN" sz="6000" b="1" dirty="0">
              <a:solidFill>
                <a:schemeClr val="accent3"/>
              </a:solidFill>
              <a:latin typeface="Britannic Bold" panose="020B0903060703020204" pitchFamily="34" charset="0"/>
            </a:endParaRPr>
          </a:p>
        </p:txBody>
      </p:sp>
    </p:spTree>
    <p:extLst>
      <p:ext uri="{BB962C8B-B14F-4D97-AF65-F5344CB8AC3E}">
        <p14:creationId xmlns:p14="http://schemas.microsoft.com/office/powerpoint/2010/main" val="277415798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theme/theme1.xml><?xml version="1.0" encoding="utf-8"?>
<a:theme xmlns:a="http://schemas.openxmlformats.org/drawingml/2006/main" name="light_modernist">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ght modernist presentation_win32_SD_V8" id="{DD9F3DBC-97DB-4389-91E3-8FAD01D677DF}" vid="{B81B0F28-B8BA-42F4-B70F-6899486E52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1E517DF-AD2B-4F60-9C5D-EF154A6040FC}">
  <ds:schemaRefs>
    <ds:schemaRef ds:uri="http://schemas.microsoft.com/sharepoint/v3/contenttype/forms"/>
  </ds:schemaRefs>
</ds:datastoreItem>
</file>

<file path=customXml/itemProps2.xml><?xml version="1.0" encoding="utf-8"?>
<ds:datastoreItem xmlns:ds="http://schemas.openxmlformats.org/officeDocument/2006/customXml" ds:itemID="{C7623B8D-609E-421C-A760-D6C5074B51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17A63E-233A-4FA7-95D0-6DC4110021C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modernist design</Template>
  <TotalTime>1824</TotalTime>
  <Words>3548</Words>
  <Application>Microsoft Office PowerPoint</Application>
  <PresentationFormat>Widescreen</PresentationFormat>
  <Paragraphs>229</Paragraphs>
  <Slides>20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Algerian</vt:lpstr>
      <vt:lpstr>Arial</vt:lpstr>
      <vt:lpstr>Arial Black</vt:lpstr>
      <vt:lpstr>Avenir Next LT Pro Light</vt:lpstr>
      <vt:lpstr>Baskerville Old Face</vt:lpstr>
      <vt:lpstr>Bookman Old Style</vt:lpstr>
      <vt:lpstr>Britannic Bold</vt:lpstr>
      <vt:lpstr>Calibri</vt:lpstr>
      <vt:lpstr>Wingdings</vt:lpstr>
      <vt:lpstr>light_modernist</vt:lpstr>
      <vt:lpstr>Decoding Market Patterns: A Study on Synthetic Stock Data</vt:lpstr>
      <vt:lpstr>Agenda:</vt:lpstr>
      <vt:lpstr>Simulated Markets: An Introduction to Synthetic Data</vt:lpstr>
      <vt:lpstr>Exploratory data analysis:-</vt:lpstr>
      <vt:lpstr>PowerPoint Presentation</vt:lpstr>
      <vt:lpstr>PowerPoint Presentation</vt:lpstr>
      <vt:lpstr>Regression Model Results and Performance Analysis:</vt:lpstr>
      <vt:lpstr>Actual vs Predicted Plot – Multiple Linear Regression: </vt:lpstr>
      <vt:lpstr>Best Subset Selection Results and Interpretation:</vt:lpstr>
      <vt:lpstr>Model Selection Criteria and Actual vs Predicted Plot – Subset Selection Model:</vt:lpstr>
      <vt:lpstr>Comparison: Linear Regression vs Subset Selection</vt:lpstr>
      <vt:lpstr>Ridge and LASSO and knn Regression Results and Interpretation:</vt:lpstr>
      <vt:lpstr> Logistic Regression Results and Classification Performance:</vt:lpstr>
      <vt:lpstr>Linear Discriminant Analysis (LDA) Results and Interpretation:</vt:lpstr>
      <vt:lpstr>KNN Classification Results and Interpretation:</vt:lpstr>
      <vt:lpstr>Final Model Comparison and Key Findings:</vt:lpstr>
      <vt:lpstr>Key Insights at a Glance: </vt:lpstr>
      <vt:lpstr>Conclusion and final insights: </vt:lpstr>
      <vt:lpstr>FUTURE direction: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oindrilachakraborty29@outlook.com</dc:creator>
  <cp:lastModifiedBy>oindrilachakraborty29@outlook.com</cp:lastModifiedBy>
  <cp:revision>8</cp:revision>
  <dcterms:created xsi:type="dcterms:W3CDTF">2026-05-05T14:28:44Z</dcterms:created>
  <dcterms:modified xsi:type="dcterms:W3CDTF">2026-05-06T20:52:44Z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